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0" r:id="rId9"/>
    <p:sldId id="264" r:id="rId10"/>
    <p:sldId id="261" r:id="rId11"/>
    <p:sldId id="262" r:id="rId12"/>
    <p:sldId id="26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48C4C6-E068-44CB-B937-A2CC74F42CBC}" v="18" dt="2026-04-24T03:58:44.3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66" d="100"/>
          <a:sy n="66" d="100"/>
        </p:scale>
        <p:origin x="1282" y="6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2593B93-6F68-453A-B7A9-39544B201BB7}" type="datetimeFigureOut">
              <a:rPr lang="en-IN" smtClean="0"/>
              <a:t>24-04-2026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E9EEEB-6D2D-4814-A582-A78D988A739D}" type="slidenum">
              <a:rPr lang="en-IN" smtClean="0"/>
              <a:t>‹#›</a:t>
            </a:fld>
            <a:endParaRPr lang="en-IN"/>
          </a:p>
        </p:txBody>
      </p:sp>
    </p:spTree>
    <p:extLst>
      <p:ext uri="{BB962C8B-B14F-4D97-AF65-F5344CB8AC3E}">
        <p14:creationId xmlns:p14="http://schemas.microsoft.com/office/powerpoint/2010/main" val="196126613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593B93-6F68-453A-B7A9-39544B201BB7}" type="datetimeFigureOut">
              <a:rPr lang="en-IN" smtClean="0"/>
              <a:t>24-04-2026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E9EEEB-6D2D-4814-A582-A78D988A739D}" type="slidenum">
              <a:rPr lang="en-IN" smtClean="0"/>
              <a:t>‹#›</a:t>
            </a:fld>
            <a:endParaRPr lang="en-IN"/>
          </a:p>
        </p:txBody>
      </p:sp>
    </p:spTree>
    <p:extLst>
      <p:ext uri="{BB962C8B-B14F-4D97-AF65-F5344CB8AC3E}">
        <p14:creationId xmlns:p14="http://schemas.microsoft.com/office/powerpoint/2010/main" val="274925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2593B93-6F68-453A-B7A9-39544B201BB7}" type="datetimeFigureOut">
              <a:rPr lang="en-IN" smtClean="0"/>
              <a:t>24-04-2026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E9EEEB-6D2D-4814-A582-A78D988A739D}" type="slidenum">
              <a:rPr lang="en-IN" smtClean="0"/>
              <a:t>‹#›</a:t>
            </a:fld>
            <a:endParaRPr lang="en-IN"/>
          </a:p>
        </p:txBody>
      </p:sp>
    </p:spTree>
    <p:extLst>
      <p:ext uri="{BB962C8B-B14F-4D97-AF65-F5344CB8AC3E}">
        <p14:creationId xmlns:p14="http://schemas.microsoft.com/office/powerpoint/2010/main" val="269755459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12593B93-6F68-453A-B7A9-39544B201BB7}" type="datetimeFigureOut">
              <a:rPr lang="en-IN" smtClean="0"/>
              <a:t>24-04-2026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D2E9EEEB-6D2D-4814-A582-A78D988A739D}" type="slidenum">
              <a:rPr lang="en-IN" smtClean="0"/>
              <a:t>‹#›</a:t>
            </a:fld>
            <a:endParaRPr lang="en-IN"/>
          </a:p>
        </p:txBody>
      </p:sp>
    </p:spTree>
    <p:extLst>
      <p:ext uri="{BB962C8B-B14F-4D97-AF65-F5344CB8AC3E}">
        <p14:creationId xmlns:p14="http://schemas.microsoft.com/office/powerpoint/2010/main" val="3611442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12593B93-6F68-453A-B7A9-39544B201BB7}" type="datetimeFigureOut">
              <a:rPr lang="en-IN" smtClean="0"/>
              <a:t>24-04-2026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E9EEEB-6D2D-4814-A582-A78D988A739D}"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860588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593B93-6F68-453A-B7A9-39544B201BB7}" type="datetimeFigureOut">
              <a:rPr lang="en-IN" smtClean="0"/>
              <a:t>24-04-2026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E9EEEB-6D2D-4814-A582-A78D988A739D}" type="slidenum">
              <a:rPr lang="en-IN" smtClean="0"/>
              <a:t>‹#›</a:t>
            </a:fld>
            <a:endParaRPr lang="en-IN"/>
          </a:p>
        </p:txBody>
      </p:sp>
    </p:spTree>
    <p:extLst>
      <p:ext uri="{BB962C8B-B14F-4D97-AF65-F5344CB8AC3E}">
        <p14:creationId xmlns:p14="http://schemas.microsoft.com/office/powerpoint/2010/main" val="1756626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593B93-6F68-453A-B7A9-39544B201BB7}" type="datetimeFigureOut">
              <a:rPr lang="en-IN" smtClean="0"/>
              <a:t>24-04-2026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2E9EEEB-6D2D-4814-A582-A78D988A739D}" type="slidenum">
              <a:rPr lang="en-IN" smtClean="0"/>
              <a:t>‹#›</a:t>
            </a:fld>
            <a:endParaRPr lang="en-IN"/>
          </a:p>
        </p:txBody>
      </p:sp>
    </p:spTree>
    <p:extLst>
      <p:ext uri="{BB962C8B-B14F-4D97-AF65-F5344CB8AC3E}">
        <p14:creationId xmlns:p14="http://schemas.microsoft.com/office/powerpoint/2010/main" val="2228611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12593B93-6F68-453A-B7A9-39544B201BB7}" type="datetimeFigureOut">
              <a:rPr lang="en-IN" smtClean="0"/>
              <a:t>24-04-2026</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D2E9EEEB-6D2D-4814-A582-A78D988A739D}" type="slidenum">
              <a:rPr lang="en-IN" smtClean="0"/>
              <a:t>‹#›</a:t>
            </a:fld>
            <a:endParaRPr lang="en-IN"/>
          </a:p>
        </p:txBody>
      </p:sp>
    </p:spTree>
    <p:extLst>
      <p:ext uri="{BB962C8B-B14F-4D97-AF65-F5344CB8AC3E}">
        <p14:creationId xmlns:p14="http://schemas.microsoft.com/office/powerpoint/2010/main" val="257891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12593B93-6F68-453A-B7A9-39544B201BB7}" type="datetimeFigureOut">
              <a:rPr lang="en-IN" smtClean="0"/>
              <a:t>24-04-2026</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D2E9EEEB-6D2D-4814-A582-A78D988A739D}" type="slidenum">
              <a:rPr lang="en-IN" smtClean="0"/>
              <a:t>‹#›</a:t>
            </a:fld>
            <a:endParaRPr lang="en-IN"/>
          </a:p>
        </p:txBody>
      </p:sp>
    </p:spTree>
    <p:extLst>
      <p:ext uri="{BB962C8B-B14F-4D97-AF65-F5344CB8AC3E}">
        <p14:creationId xmlns:p14="http://schemas.microsoft.com/office/powerpoint/2010/main" val="134180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593B93-6F68-453A-B7A9-39544B201BB7}"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E9EEEB-6D2D-4814-A582-A78D988A739D}" type="slidenum">
              <a:rPr lang="en-IN" smtClean="0"/>
              <a:t>‹#›</a:t>
            </a:fld>
            <a:endParaRPr lang="en-IN"/>
          </a:p>
        </p:txBody>
      </p:sp>
    </p:spTree>
    <p:extLst>
      <p:ext uri="{BB962C8B-B14F-4D97-AF65-F5344CB8AC3E}">
        <p14:creationId xmlns:p14="http://schemas.microsoft.com/office/powerpoint/2010/main" val="610945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593B93-6F68-453A-B7A9-39544B201BB7}"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E9EEEB-6D2D-4814-A582-A78D988A739D}" type="slidenum">
              <a:rPr lang="en-IN" smtClean="0"/>
              <a:t>‹#›</a:t>
            </a:fld>
            <a:endParaRPr lang="en-IN"/>
          </a:p>
        </p:txBody>
      </p:sp>
    </p:spTree>
    <p:extLst>
      <p:ext uri="{BB962C8B-B14F-4D97-AF65-F5344CB8AC3E}">
        <p14:creationId xmlns:p14="http://schemas.microsoft.com/office/powerpoint/2010/main" val="4159468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2593B93-6F68-453A-B7A9-39544B201BB7}" type="datetimeFigureOut">
              <a:rPr lang="en-IN" smtClean="0"/>
              <a:t>24-04-2026</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D2E9EEEB-6D2D-4814-A582-A78D988A739D}" type="slidenum">
              <a:rPr lang="en-IN" smtClean="0"/>
              <a:t>‹#›</a:t>
            </a:fld>
            <a:endParaRPr lang="en-IN"/>
          </a:p>
        </p:txBody>
      </p:sp>
    </p:spTree>
    <p:extLst>
      <p:ext uri="{BB962C8B-B14F-4D97-AF65-F5344CB8AC3E}">
        <p14:creationId xmlns:p14="http://schemas.microsoft.com/office/powerpoint/2010/main" val="3265187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2A66C-E9A9-3118-032E-CECDE37D21EE}"/>
              </a:ext>
            </a:extLst>
          </p:cNvPr>
          <p:cNvSpPr>
            <a:spLocks noGrp="1"/>
          </p:cNvSpPr>
          <p:nvPr>
            <p:ph type="ctrTitle"/>
          </p:nvPr>
        </p:nvSpPr>
        <p:spPr>
          <a:xfrm>
            <a:off x="1109980" y="1265562"/>
            <a:ext cx="9972040" cy="3086982"/>
          </a:xfrm>
        </p:spPr>
        <p:txBody>
          <a:bodyPr>
            <a:normAutofit/>
          </a:bodyPr>
          <a:lstStyle/>
          <a:p>
            <a:r>
              <a:rPr lang="en-US" dirty="0">
                <a:latin typeface="Times New Roman" panose="02020603050405020304" pitchFamily="18" charset="0"/>
                <a:cs typeface="Times New Roman" panose="02020603050405020304" pitchFamily="18" charset="0"/>
              </a:rPr>
              <a:t>Swapping and Page Replacement in OS-using FIFO and LRU ALGORITHMS</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88B281D-F622-8A92-E3B9-FBE478CE6B1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379542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96559-74AF-89AB-4BCA-A6A48F687E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7FB16-1F2B-9956-1F1A-F52C39ABBDB4}"/>
              </a:ext>
            </a:extLst>
          </p:cNvPr>
          <p:cNvSpPr>
            <a:spLocks noGrp="1"/>
          </p:cNvSpPr>
          <p:nvPr>
            <p:ph type="ctrTitle"/>
          </p:nvPr>
        </p:nvSpPr>
        <p:spPr>
          <a:xfrm>
            <a:off x="1600200" y="536895"/>
            <a:ext cx="8991600" cy="5595457"/>
          </a:xfrm>
        </p:spPr>
        <p:txBody>
          <a:bodyPr/>
          <a:lstStyle/>
          <a:p>
            <a:endParaRPr lang="en-IN" b="1" dirty="0"/>
          </a:p>
        </p:txBody>
      </p:sp>
      <p:sp>
        <p:nvSpPr>
          <p:cNvPr id="3" name="Subtitle 2">
            <a:extLst>
              <a:ext uri="{FF2B5EF4-FFF2-40B4-BE49-F238E27FC236}">
                <a16:creationId xmlns:a16="http://schemas.microsoft.com/office/drawing/2014/main" id="{7B02B15A-5A93-59B6-83F9-0B915A49C852}"/>
              </a:ext>
            </a:extLst>
          </p:cNvPr>
          <p:cNvSpPr>
            <a:spLocks noGrp="1"/>
          </p:cNvSpPr>
          <p:nvPr>
            <p:ph type="subTitle" idx="1"/>
          </p:nvPr>
        </p:nvSpPr>
        <p:spPr>
          <a:xfrm>
            <a:off x="1839516" y="1412240"/>
            <a:ext cx="8991600" cy="3820160"/>
          </a:xfrm>
        </p:spPr>
        <p:txBody>
          <a:bodyPr>
            <a:normAutofit fontScale="85000" lnSpcReduction="20000"/>
          </a:bodyPr>
          <a:lstStyle/>
          <a:p>
            <a:pPr algn="l"/>
            <a:r>
              <a:rPr lang="en-IN" b="1" dirty="0">
                <a:solidFill>
                  <a:schemeClr val="bg1"/>
                </a:solidFill>
              </a:rPr>
              <a:t>Submitted by :</a:t>
            </a:r>
          </a:p>
          <a:p>
            <a:pPr algn="l"/>
            <a:endParaRPr lang="en-IN" b="1" dirty="0">
              <a:solidFill>
                <a:schemeClr val="bg1"/>
              </a:solidFill>
            </a:endParaRPr>
          </a:p>
          <a:p>
            <a:pPr algn="l"/>
            <a:r>
              <a:rPr lang="en-IN" dirty="0">
                <a:solidFill>
                  <a:schemeClr val="bg1"/>
                </a:solidFill>
                <a:latin typeface="Times New Roman" panose="02020603050405020304" charset="0"/>
                <a:cs typeface="Times New Roman" panose="02020603050405020304" charset="0"/>
                <a:sym typeface="+mn-ea"/>
              </a:rPr>
              <a:t>BATCH -06</a:t>
            </a:r>
            <a:endParaRPr lang="en-IN" dirty="0">
              <a:solidFill>
                <a:schemeClr val="bg1"/>
              </a:solidFill>
              <a:latin typeface="Times New Roman" panose="02020603050405020304" charset="0"/>
              <a:cs typeface="Times New Roman" panose="02020603050405020304" charset="0"/>
            </a:endParaRPr>
          </a:p>
          <a:p>
            <a:pPr algn="l"/>
            <a:endParaRPr lang="en-IN" dirty="0">
              <a:solidFill>
                <a:schemeClr val="bg1"/>
              </a:solidFill>
              <a:latin typeface="Times New Roman" panose="02020603050405020304" charset="0"/>
              <a:cs typeface="Times New Roman" panose="02020603050405020304" charset="0"/>
            </a:endParaRPr>
          </a:p>
          <a:p>
            <a:pPr algn="l"/>
            <a:r>
              <a:rPr lang="en-IN" dirty="0">
                <a:solidFill>
                  <a:schemeClr val="bg1"/>
                </a:solidFill>
                <a:latin typeface="Times New Roman" panose="02020603050405020304" charset="0"/>
                <a:cs typeface="Times New Roman" panose="02020603050405020304" charset="0"/>
                <a:sym typeface="+mn-ea"/>
              </a:rPr>
              <a:t>241FA04918 –  P.GAYATHRI</a:t>
            </a:r>
            <a:endParaRPr lang="en-IN" dirty="0">
              <a:solidFill>
                <a:schemeClr val="bg1"/>
              </a:solidFill>
              <a:latin typeface="Times New Roman" panose="02020603050405020304" charset="0"/>
              <a:cs typeface="Times New Roman" panose="02020603050405020304" charset="0"/>
            </a:endParaRPr>
          </a:p>
          <a:p>
            <a:pPr algn="l"/>
            <a:endParaRPr lang="en-IN" dirty="0">
              <a:solidFill>
                <a:schemeClr val="bg1"/>
              </a:solidFill>
              <a:latin typeface="Times New Roman" panose="02020603050405020304" charset="0"/>
              <a:cs typeface="Times New Roman" panose="02020603050405020304" charset="0"/>
            </a:endParaRPr>
          </a:p>
          <a:p>
            <a:pPr algn="l"/>
            <a:r>
              <a:rPr lang="en-IN" dirty="0">
                <a:solidFill>
                  <a:schemeClr val="bg1"/>
                </a:solidFill>
                <a:latin typeface="Times New Roman" panose="02020603050405020304" charset="0"/>
                <a:cs typeface="Times New Roman" panose="02020603050405020304" charset="0"/>
                <a:sym typeface="+mn-ea"/>
              </a:rPr>
              <a:t>241FA04947 – O.ALEKHYA</a:t>
            </a:r>
            <a:endParaRPr lang="en-IN" dirty="0">
              <a:solidFill>
                <a:schemeClr val="bg1"/>
              </a:solidFill>
              <a:latin typeface="Times New Roman" panose="02020603050405020304" charset="0"/>
              <a:cs typeface="Times New Roman" panose="02020603050405020304" charset="0"/>
            </a:endParaRPr>
          </a:p>
          <a:p>
            <a:pPr algn="l"/>
            <a:endParaRPr lang="en-IN" dirty="0">
              <a:solidFill>
                <a:schemeClr val="bg1"/>
              </a:solidFill>
              <a:latin typeface="Times New Roman" panose="02020603050405020304" charset="0"/>
              <a:cs typeface="Times New Roman" panose="02020603050405020304" charset="0"/>
            </a:endParaRPr>
          </a:p>
          <a:p>
            <a:pPr algn="l"/>
            <a:r>
              <a:rPr lang="en-IN" dirty="0">
                <a:solidFill>
                  <a:schemeClr val="bg1"/>
                </a:solidFill>
                <a:latin typeface="Times New Roman" panose="02020603050405020304" charset="0"/>
                <a:cs typeface="Times New Roman" panose="02020603050405020304" charset="0"/>
                <a:sym typeface="+mn-ea"/>
              </a:rPr>
              <a:t>241FA04985 – T.SADASIVA RAO</a:t>
            </a:r>
            <a:endParaRPr lang="en-IN" dirty="0">
              <a:solidFill>
                <a:schemeClr val="bg1"/>
              </a:solidFill>
              <a:latin typeface="Times New Roman" panose="02020603050405020304" charset="0"/>
              <a:cs typeface="Times New Roman" panose="02020603050405020304" charset="0"/>
            </a:endParaRPr>
          </a:p>
          <a:p>
            <a:pPr algn="l"/>
            <a:endParaRPr lang="en-IN" dirty="0">
              <a:solidFill>
                <a:schemeClr val="bg1"/>
              </a:solidFill>
              <a:latin typeface="Times New Roman" panose="02020603050405020304" charset="0"/>
              <a:cs typeface="Times New Roman" panose="02020603050405020304" charset="0"/>
            </a:endParaRPr>
          </a:p>
          <a:p>
            <a:pPr algn="l"/>
            <a:r>
              <a:rPr lang="en-IN" dirty="0">
                <a:solidFill>
                  <a:schemeClr val="bg1"/>
                </a:solidFill>
                <a:latin typeface="Times New Roman" panose="02020603050405020304" charset="0"/>
                <a:cs typeface="Times New Roman" panose="02020603050405020304" charset="0"/>
                <a:sym typeface="+mn-ea"/>
              </a:rPr>
              <a:t>241FA04F28 – B. JOHN RONALD</a:t>
            </a:r>
            <a:endParaRPr lang="en-US" dirty="0">
              <a:solidFill>
                <a:schemeClr val="bg1"/>
              </a:solidFill>
            </a:endParaRPr>
          </a:p>
          <a:p>
            <a:pPr algn="l"/>
            <a:endParaRPr lang="en-IN" dirty="0">
              <a:solidFill>
                <a:schemeClr val="bg1"/>
              </a:solidFill>
            </a:endParaRPr>
          </a:p>
        </p:txBody>
      </p:sp>
    </p:spTree>
    <p:extLst>
      <p:ext uri="{BB962C8B-B14F-4D97-AF65-F5344CB8AC3E}">
        <p14:creationId xmlns:p14="http://schemas.microsoft.com/office/powerpoint/2010/main" val="2518266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498C3-20C5-B755-8E30-1BCAAC66BA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6E2A8B-79A1-861E-DED8-DC2CFABDF327}"/>
              </a:ext>
            </a:extLst>
          </p:cNvPr>
          <p:cNvSpPr>
            <a:spLocks noGrp="1"/>
          </p:cNvSpPr>
          <p:nvPr>
            <p:ph type="ctrTitle"/>
          </p:nvPr>
        </p:nvSpPr>
        <p:spPr>
          <a:xfrm>
            <a:off x="1600200" y="536895"/>
            <a:ext cx="8991600" cy="5595457"/>
          </a:xfrm>
        </p:spPr>
        <p:txBody>
          <a:bodyPr>
            <a:normAutofit/>
          </a:bodyPr>
          <a:lstStyle/>
          <a:p>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7574E8E-597B-84A7-2038-A5E934115627}"/>
              </a:ext>
            </a:extLst>
          </p:cNvPr>
          <p:cNvSpPr txBox="1"/>
          <p:nvPr/>
        </p:nvSpPr>
        <p:spPr>
          <a:xfrm>
            <a:off x="1875099" y="703133"/>
            <a:ext cx="8275899" cy="5262979"/>
          </a:xfrm>
          <a:prstGeom prst="rect">
            <a:avLst/>
          </a:prstGeom>
          <a:noFill/>
        </p:spPr>
        <p:txBody>
          <a:bodyPr wrap="square" rtlCol="0">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                              QUESTIONS</a:t>
            </a:r>
          </a:p>
          <a:p>
            <a:pPr algn="just"/>
            <a:endParaRPr lang="en-US" sz="2800" b="1" dirty="0">
              <a:solidFill>
                <a:schemeClr val="bg1"/>
              </a:solidFill>
              <a:latin typeface="Times New Roman" panose="02020603050405020304" pitchFamily="18" charset="0"/>
              <a:cs typeface="Times New Roman" panose="02020603050405020304" pitchFamily="18" charset="0"/>
            </a:endParaRPr>
          </a:p>
          <a:p>
            <a:pPr algn="just"/>
            <a:r>
              <a:rPr lang="en-US" sz="2000" dirty="0">
                <a:solidFill>
                  <a:schemeClr val="bg1"/>
                </a:solidFill>
                <a:latin typeface="Times New Roman" panose="02020603050405020304" pitchFamily="18" charset="0"/>
                <a:cs typeface="Times New Roman" panose="02020603050405020304" pitchFamily="18" charset="0"/>
              </a:rPr>
              <a:t>8. (a). Summarize the process of swapping in memory management. What conditions typically lead to swapping, and what impact can it have on system performance? </a:t>
            </a:r>
          </a:p>
          <a:p>
            <a:pPr algn="just"/>
            <a:endParaRPr lang="en-US" sz="2000" dirty="0">
              <a:solidFill>
                <a:schemeClr val="bg1"/>
              </a:solidFill>
              <a:latin typeface="Times New Roman" panose="02020603050405020304" pitchFamily="18" charset="0"/>
              <a:cs typeface="Times New Roman" panose="02020603050405020304" pitchFamily="18" charset="0"/>
            </a:endParaRPr>
          </a:p>
          <a:p>
            <a:pPr algn="just"/>
            <a:endParaRPr lang="en-US" sz="2000" dirty="0">
              <a:solidFill>
                <a:schemeClr val="bg1"/>
              </a:solidFill>
              <a:latin typeface="Times New Roman" panose="02020603050405020304" pitchFamily="18" charset="0"/>
              <a:cs typeface="Times New Roman" panose="02020603050405020304" pitchFamily="18" charset="0"/>
            </a:endParaRPr>
          </a:p>
          <a:p>
            <a:pPr algn="just"/>
            <a:endParaRPr lang="en-US" sz="2000" dirty="0">
              <a:solidFill>
                <a:schemeClr val="bg1"/>
              </a:solidFill>
              <a:latin typeface="Times New Roman" panose="02020603050405020304" pitchFamily="18" charset="0"/>
              <a:cs typeface="Times New Roman" panose="02020603050405020304" pitchFamily="18" charset="0"/>
            </a:endParaRPr>
          </a:p>
          <a:p>
            <a:pPr algn="just"/>
            <a:endParaRPr lang="en-US" sz="2000" dirty="0">
              <a:solidFill>
                <a:schemeClr val="bg1"/>
              </a:solidFill>
              <a:latin typeface="Times New Roman" panose="02020603050405020304" pitchFamily="18" charset="0"/>
              <a:cs typeface="Times New Roman" panose="02020603050405020304" pitchFamily="18" charset="0"/>
            </a:endParaRPr>
          </a:p>
          <a:p>
            <a:pPr algn="just"/>
            <a:r>
              <a:rPr lang="en-US" sz="2000" dirty="0">
                <a:solidFill>
                  <a:schemeClr val="bg1"/>
                </a:solidFill>
                <a:latin typeface="Times New Roman" panose="02020603050405020304" pitchFamily="18" charset="0"/>
                <a:cs typeface="Times New Roman" panose="02020603050405020304" pitchFamily="18" charset="0"/>
              </a:rPr>
              <a:t>8 (b). Apply a page swapping algorithm to manage memory in a system with 3-page frames. Given the memory access sequence X, Y, Z, X, W, Y, Z, calculate the number of page faults using the FIFO and LRU algorithms. Apply the swapping technique to optimize disk I/O and reduce the page fault rate. Then, evaluate the effect of different page replacement strategies on system performance and memory utilization. Finally, determine how the system's performance is impacted when the number of frames is increased to 4. </a:t>
            </a:r>
            <a:endParaRPr lang="en-IN" sz="2000" dirty="0">
              <a:solidFill>
                <a:schemeClr val="bg1"/>
              </a:solidFill>
            </a:endParaRPr>
          </a:p>
        </p:txBody>
      </p:sp>
    </p:spTree>
    <p:extLst>
      <p:ext uri="{BB962C8B-B14F-4D97-AF65-F5344CB8AC3E}">
        <p14:creationId xmlns:p14="http://schemas.microsoft.com/office/powerpoint/2010/main" val="1302805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2F88C-BA86-C173-9C6E-FFE8334BF0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95193-4706-CBF1-5656-2E6D62004C95}"/>
              </a:ext>
            </a:extLst>
          </p:cNvPr>
          <p:cNvSpPr>
            <a:spLocks noGrp="1"/>
          </p:cNvSpPr>
          <p:nvPr>
            <p:ph type="ctrTitle"/>
          </p:nvPr>
        </p:nvSpPr>
        <p:spPr>
          <a:xfrm>
            <a:off x="1600200" y="536895"/>
            <a:ext cx="8991600" cy="5595457"/>
          </a:xfrm>
        </p:spPr>
        <p:txBody>
          <a:bodyPr/>
          <a:lstStyle/>
          <a:p>
            <a:endParaRPr lang="en-IN" b="1" dirty="0"/>
          </a:p>
        </p:txBody>
      </p:sp>
      <p:sp>
        <p:nvSpPr>
          <p:cNvPr id="3" name="Subtitle 2">
            <a:extLst>
              <a:ext uri="{FF2B5EF4-FFF2-40B4-BE49-F238E27FC236}">
                <a16:creationId xmlns:a16="http://schemas.microsoft.com/office/drawing/2014/main" id="{29C279C5-DD7C-7E7E-79B7-0F10C120EE3B}"/>
              </a:ext>
            </a:extLst>
          </p:cNvPr>
          <p:cNvSpPr>
            <a:spLocks noGrp="1"/>
          </p:cNvSpPr>
          <p:nvPr>
            <p:ph type="subTitle" idx="1"/>
          </p:nvPr>
        </p:nvSpPr>
        <p:spPr>
          <a:xfrm>
            <a:off x="1689378" y="725648"/>
            <a:ext cx="8813244" cy="4467320"/>
          </a:xfrm>
        </p:spPr>
        <p:txBody>
          <a:bodyPr>
            <a:noAutofit/>
          </a:bodyPr>
          <a:lstStyle/>
          <a:p>
            <a:r>
              <a:rPr lang="en-US" sz="1400" b="1" dirty="0">
                <a:solidFill>
                  <a:schemeClr val="bg1"/>
                </a:solidFill>
                <a:latin typeface="Times New Roman" panose="02020603050405020304" pitchFamily="18" charset="0"/>
                <a:cs typeface="Times New Roman" panose="02020603050405020304" pitchFamily="18" charset="0"/>
              </a:rPr>
              <a:t>Process of Swapping</a:t>
            </a:r>
          </a:p>
          <a:p>
            <a:pPr algn="l"/>
            <a:r>
              <a:rPr lang="en-US" sz="1400" dirty="0">
                <a:solidFill>
                  <a:schemeClr val="bg1"/>
                </a:solidFill>
                <a:latin typeface="Times New Roman" panose="02020603050405020304" pitchFamily="18" charset="0"/>
                <a:cs typeface="Times New Roman" panose="02020603050405020304" pitchFamily="18" charset="0"/>
              </a:rPr>
              <a:t>A)</a:t>
            </a:r>
          </a:p>
          <a:p>
            <a:pPr algn="l"/>
            <a:r>
              <a:rPr lang="en-US" sz="1400" dirty="0">
                <a:solidFill>
                  <a:schemeClr val="bg1"/>
                </a:solidFill>
                <a:latin typeface="Times New Roman" panose="02020603050405020304" pitchFamily="18" charset="0"/>
                <a:cs typeface="Times New Roman" panose="02020603050405020304" pitchFamily="18" charset="0"/>
              </a:rPr>
              <a:t>Swapping is a memory management technique where processes are temporarily</a:t>
            </a:r>
          </a:p>
          <a:p>
            <a:pPr algn="l"/>
            <a:r>
              <a:rPr lang="en-US" sz="1400" dirty="0">
                <a:solidFill>
                  <a:schemeClr val="bg1"/>
                </a:solidFill>
                <a:latin typeface="Times New Roman" panose="02020603050405020304" pitchFamily="18" charset="0"/>
                <a:cs typeface="Times New Roman" panose="02020603050405020304" pitchFamily="18" charset="0"/>
              </a:rPr>
              <a:t>moved from </a:t>
            </a:r>
            <a:r>
              <a:rPr lang="en-US" sz="1400" b="1" dirty="0">
                <a:solidFill>
                  <a:schemeClr val="bg1"/>
                </a:solidFill>
                <a:latin typeface="Times New Roman" panose="02020603050405020304" pitchFamily="18" charset="0"/>
                <a:cs typeface="Times New Roman" panose="02020603050405020304" pitchFamily="18" charset="0"/>
              </a:rPr>
              <a:t>main memory (RAM)</a:t>
            </a:r>
            <a:r>
              <a:rPr lang="en-US" sz="1400" dirty="0">
                <a:solidFill>
                  <a:schemeClr val="bg1"/>
                </a:solidFill>
                <a:latin typeface="Times New Roman" panose="02020603050405020304" pitchFamily="18" charset="0"/>
                <a:cs typeface="Times New Roman" panose="02020603050405020304" pitchFamily="18" charset="0"/>
              </a:rPr>
              <a:t> to </a:t>
            </a:r>
            <a:r>
              <a:rPr lang="en-US" sz="1400" b="1" dirty="0">
                <a:solidFill>
                  <a:schemeClr val="bg1"/>
                </a:solidFill>
                <a:latin typeface="Times New Roman" panose="02020603050405020304" pitchFamily="18" charset="0"/>
                <a:cs typeface="Times New Roman" panose="02020603050405020304" pitchFamily="18" charset="0"/>
              </a:rPr>
              <a:t>secondary storage (disk)</a:t>
            </a:r>
            <a:r>
              <a:rPr lang="en-US" sz="1400" dirty="0">
                <a:solidFill>
                  <a:schemeClr val="bg1"/>
                </a:solidFill>
                <a:latin typeface="Times New Roman" panose="02020603050405020304" pitchFamily="18" charset="0"/>
                <a:cs typeface="Times New Roman" panose="02020603050405020304" pitchFamily="18" charset="0"/>
              </a:rPr>
              <a:t> and later</a:t>
            </a:r>
          </a:p>
          <a:p>
            <a:pPr algn="l"/>
            <a:r>
              <a:rPr lang="en-US" sz="1400" dirty="0">
                <a:solidFill>
                  <a:schemeClr val="bg1"/>
                </a:solidFill>
                <a:latin typeface="Times New Roman" panose="02020603050405020304" pitchFamily="18" charset="0"/>
                <a:cs typeface="Times New Roman" panose="02020603050405020304" pitchFamily="18" charset="0"/>
              </a:rPr>
              <a:t>brought back when needed.</a:t>
            </a:r>
          </a:p>
          <a:p>
            <a:pPr algn="l"/>
            <a:endParaRPr lang="en-US" sz="1400" dirty="0">
              <a:solidFill>
                <a:schemeClr val="bg1"/>
              </a:solidFill>
              <a:latin typeface="Times New Roman" panose="02020603050405020304" pitchFamily="18" charset="0"/>
              <a:cs typeface="Times New Roman" panose="02020603050405020304" pitchFamily="18" charset="0"/>
            </a:endParaRPr>
          </a:p>
          <a:p>
            <a:pPr algn="l"/>
            <a:r>
              <a:rPr lang="en-IN" sz="1400" b="1" dirty="0">
                <a:solidFill>
                  <a:schemeClr val="bg1"/>
                </a:solidFill>
                <a:latin typeface="Times New Roman" panose="02020603050405020304" pitchFamily="18" charset="0"/>
                <a:cs typeface="Times New Roman" panose="02020603050405020304" pitchFamily="18" charset="0"/>
              </a:rPr>
              <a:t>Two operations:</a:t>
            </a:r>
          </a:p>
          <a:p>
            <a:pPr algn="l"/>
            <a:r>
              <a:rPr lang="en-IN" sz="1400" dirty="0">
                <a:solidFill>
                  <a:schemeClr val="bg1"/>
                </a:solidFill>
                <a:latin typeface="Times New Roman" panose="02020603050405020304" pitchFamily="18" charset="0"/>
                <a:cs typeface="Times New Roman" panose="02020603050405020304" pitchFamily="18" charset="0"/>
              </a:rPr>
              <a:t>1.Swap-out </a:t>
            </a:r>
          </a:p>
          <a:p>
            <a:pPr algn="l"/>
            <a:r>
              <a:rPr lang="en-IN" sz="1400" dirty="0">
                <a:solidFill>
                  <a:schemeClr val="bg1"/>
                </a:solidFill>
                <a:latin typeface="Times New Roman" panose="02020603050405020304" pitchFamily="18" charset="0"/>
                <a:cs typeface="Times New Roman" panose="02020603050405020304" pitchFamily="18" charset="0"/>
              </a:rPr>
              <a:t>2.Swap-in</a:t>
            </a:r>
          </a:p>
          <a:p>
            <a:pPr algn="l"/>
            <a:endParaRPr lang="en-US" sz="1400" dirty="0">
              <a:solidFill>
                <a:schemeClr val="bg1"/>
              </a:solidFill>
              <a:latin typeface="Times New Roman" panose="02020603050405020304" pitchFamily="18" charset="0"/>
              <a:cs typeface="Times New Roman" panose="02020603050405020304" pitchFamily="18" charset="0"/>
            </a:endParaRPr>
          </a:p>
          <a:p>
            <a:pPr lvl="0" algn="l" eaLnBrk="0" fontAlgn="base" hangingPunct="0">
              <a:spcBef>
                <a:spcPct val="0"/>
              </a:spcBef>
              <a:spcAft>
                <a:spcPct val="0"/>
              </a:spcAft>
              <a:buClrTx/>
            </a:pPr>
            <a:r>
              <a:rPr lang="en-IN" sz="1400" b="1" dirty="0">
                <a:solidFill>
                  <a:schemeClr val="bg1"/>
                </a:solidFill>
                <a:latin typeface="Times New Roman" panose="02020603050405020304" pitchFamily="18" charset="0"/>
                <a:cs typeface="Times New Roman" panose="02020603050405020304" pitchFamily="18" charset="0"/>
              </a:rPr>
              <a:t>Swapping Process</a:t>
            </a:r>
          </a:p>
          <a:p>
            <a:pPr lvl="0" algn="l" eaLnBrk="0" fontAlgn="base" hangingPunct="0">
              <a:spcBef>
                <a:spcPct val="0"/>
              </a:spcBef>
              <a:spcAft>
                <a:spcPct val="0"/>
              </a:spcAft>
              <a:buClrTx/>
            </a:pPr>
            <a:endParaRPr lang="en-US" altLang="en-US" sz="1400" dirty="0">
              <a:solidFill>
                <a:schemeClr val="bg1"/>
              </a:solidFill>
              <a:latin typeface="Times New Roman" panose="02020603050405020304" pitchFamily="18" charset="0"/>
              <a:cs typeface="Times New Roman" panose="02020603050405020304" pitchFamily="18" charset="0"/>
            </a:endParaRPr>
          </a:p>
          <a:p>
            <a:pPr lvl="0" algn="l" eaLnBrk="0" fontAlgn="base" hangingPunct="0">
              <a:spcBef>
                <a:spcPct val="0"/>
              </a:spcBef>
              <a:spcAft>
                <a:spcPct val="0"/>
              </a:spcAft>
              <a:buClrTx/>
              <a:buFontTx/>
              <a:buChar char="•"/>
            </a:pPr>
            <a:r>
              <a:rPr lang="en-US" altLang="en-US" sz="1400" dirty="0">
                <a:solidFill>
                  <a:schemeClr val="bg1"/>
                </a:solidFill>
                <a:latin typeface="Times New Roman" panose="02020603050405020304" pitchFamily="18" charset="0"/>
                <a:cs typeface="Times New Roman" panose="02020603050405020304" pitchFamily="18" charset="0"/>
              </a:rPr>
              <a:t>Process moved from   </a:t>
            </a:r>
            <a:r>
              <a:rPr lang="en-US" altLang="en-US" sz="1400" b="1" dirty="0">
                <a:solidFill>
                  <a:schemeClr val="bg1"/>
                </a:solidFill>
                <a:latin typeface="Times New Roman" panose="02020603050405020304" pitchFamily="18" charset="0"/>
                <a:cs typeface="Times New Roman" panose="02020603050405020304" pitchFamily="18" charset="0"/>
              </a:rPr>
              <a:t>main memory → disk </a:t>
            </a:r>
          </a:p>
          <a:p>
            <a:pPr lvl="0" algn="l" eaLnBrk="0" fontAlgn="base" hangingPunct="0">
              <a:spcBef>
                <a:spcPct val="0"/>
              </a:spcBef>
              <a:spcAft>
                <a:spcPct val="0"/>
              </a:spcAft>
              <a:buClrTx/>
            </a:pPr>
            <a:endParaRPr lang="en-US" altLang="en-US" sz="1400" b="1" dirty="0">
              <a:solidFill>
                <a:schemeClr val="bg1"/>
              </a:solidFill>
              <a:latin typeface="Times New Roman" panose="02020603050405020304" pitchFamily="18" charset="0"/>
              <a:cs typeface="Times New Roman" panose="02020603050405020304" pitchFamily="18" charset="0"/>
            </a:endParaRPr>
          </a:p>
          <a:p>
            <a:pPr lvl="0" algn="l" eaLnBrk="0" fontAlgn="base" hangingPunct="0">
              <a:spcBef>
                <a:spcPct val="0"/>
              </a:spcBef>
              <a:spcAft>
                <a:spcPct val="0"/>
              </a:spcAft>
              <a:buClrTx/>
              <a:buFontTx/>
              <a:buChar char="•"/>
            </a:pPr>
            <a:r>
              <a:rPr lang="en-US" altLang="en-US" sz="1400" dirty="0">
                <a:solidFill>
                  <a:schemeClr val="bg1"/>
                </a:solidFill>
                <a:latin typeface="Times New Roman" panose="02020603050405020304" pitchFamily="18" charset="0"/>
                <a:cs typeface="Times New Roman" panose="02020603050405020304" pitchFamily="18" charset="0"/>
              </a:rPr>
              <a:t>New process loaded into RAM </a:t>
            </a:r>
          </a:p>
          <a:p>
            <a:pPr lvl="0" algn="l" eaLnBrk="0" fontAlgn="base" hangingPunct="0">
              <a:spcBef>
                <a:spcPct val="0"/>
              </a:spcBef>
              <a:spcAft>
                <a:spcPct val="0"/>
              </a:spcAft>
              <a:buClrTx/>
            </a:pPr>
            <a:endParaRPr lang="en-US" altLang="en-US" sz="1400" dirty="0">
              <a:solidFill>
                <a:schemeClr val="bg1"/>
              </a:solidFill>
              <a:latin typeface="Times New Roman" panose="02020603050405020304" pitchFamily="18" charset="0"/>
              <a:cs typeface="Times New Roman" panose="02020603050405020304" pitchFamily="18" charset="0"/>
            </a:endParaRPr>
          </a:p>
          <a:p>
            <a:pPr lvl="0" algn="l" eaLnBrk="0" fontAlgn="base" hangingPunct="0">
              <a:spcBef>
                <a:spcPct val="0"/>
              </a:spcBef>
              <a:spcAft>
                <a:spcPct val="0"/>
              </a:spcAft>
              <a:buClrTx/>
              <a:buFontTx/>
              <a:buChar char="•"/>
            </a:pPr>
            <a:r>
              <a:rPr lang="en-US" altLang="en-US" sz="1400" dirty="0">
                <a:solidFill>
                  <a:schemeClr val="bg1"/>
                </a:solidFill>
                <a:latin typeface="Times New Roman" panose="02020603050405020304" pitchFamily="18" charset="0"/>
                <a:cs typeface="Times New Roman" panose="02020603050405020304" pitchFamily="18" charset="0"/>
              </a:rPr>
              <a:t>Swapped process returns when needed </a:t>
            </a:r>
          </a:p>
          <a:p>
            <a:pPr algn="l"/>
            <a:r>
              <a:rPr lang="en-US" altLang="en-US" sz="1400" dirty="0">
                <a:solidFill>
                  <a:schemeClr val="bg1"/>
                </a:solidFill>
                <a:latin typeface="Times New Roman" panose="02020603050405020304" pitchFamily="18" charset="0"/>
                <a:cs typeface="Times New Roman" panose="02020603050405020304" pitchFamily="18" charset="0"/>
              </a:rPr>
              <a:t>Managed by OS scheduler </a:t>
            </a:r>
          </a:p>
          <a:p>
            <a:pPr algn="l"/>
            <a:r>
              <a:rPr lang="en-US" sz="1400" dirty="0">
                <a:solidFill>
                  <a:schemeClr val="bg1"/>
                </a:solidFill>
                <a:latin typeface="Times New Roman" panose="02020603050405020304" pitchFamily="18" charset="0"/>
                <a:cs typeface="Times New Roman" panose="02020603050405020304" pitchFamily="18" charset="0"/>
              </a:rPr>
              <a:t>.</a:t>
            </a:r>
          </a:p>
          <a:p>
            <a:endParaRPr lang="en-US" sz="1400" dirty="0">
              <a:solidFill>
                <a:schemeClr val="bg1"/>
              </a:solidFill>
              <a:latin typeface="Times New Roman" panose="02020603050405020304" pitchFamily="18" charset="0"/>
              <a:cs typeface="Times New Roman" panose="02020603050405020304" pitchFamily="18" charset="0"/>
            </a:endParaRPr>
          </a:p>
        </p:txBody>
      </p:sp>
      <p:pic>
        <p:nvPicPr>
          <p:cNvPr id="1026" name="Picture 2" descr="Memory Management in Operating System - DataFlair">
            <a:extLst>
              <a:ext uri="{FF2B5EF4-FFF2-40B4-BE49-F238E27FC236}">
                <a16:creationId xmlns:a16="http://schemas.microsoft.com/office/drawing/2014/main" id="{B065ECC8-8768-2571-6358-922C3C5745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3089" y="2343337"/>
            <a:ext cx="4688711" cy="2743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6441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CB398-9FE5-80F4-B1FA-E3AB067669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3A49C-3507-D80F-0652-F609146E2AC8}"/>
              </a:ext>
            </a:extLst>
          </p:cNvPr>
          <p:cNvSpPr>
            <a:spLocks noGrp="1"/>
          </p:cNvSpPr>
          <p:nvPr>
            <p:ph type="ctrTitle"/>
          </p:nvPr>
        </p:nvSpPr>
        <p:spPr>
          <a:xfrm>
            <a:off x="708949" y="536895"/>
            <a:ext cx="10888884" cy="5595457"/>
          </a:xfrm>
        </p:spPr>
        <p:txBody>
          <a:bodyPr/>
          <a:lstStyle/>
          <a:p>
            <a:endParaRPr lang="en-IN" b="1" dirty="0"/>
          </a:p>
        </p:txBody>
      </p:sp>
      <p:pic>
        <p:nvPicPr>
          <p:cNvPr id="3074" name="Picture 2" descr="What is Swapping in Operating System (OS)? - Binary Terms">
            <a:extLst>
              <a:ext uri="{FF2B5EF4-FFF2-40B4-BE49-F238E27FC236}">
                <a16:creationId xmlns:a16="http://schemas.microsoft.com/office/drawing/2014/main" id="{C7A56E63-0D1B-51ED-2DD1-F8E386D85B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3089" y="1300053"/>
            <a:ext cx="5579962" cy="3572118"/>
          </a:xfrm>
          <a:prstGeom prst="rect">
            <a:avLst/>
          </a:prstGeom>
          <a:noFill/>
          <a:extLst>
            <a:ext uri="{909E8E84-426E-40DD-AFC4-6F175D3DCCD1}">
              <a14:hiddenFill xmlns:a14="http://schemas.microsoft.com/office/drawing/2010/main">
                <a:solidFill>
                  <a:srgbClr val="FFFFFF"/>
                </a:solidFill>
              </a14:hiddenFill>
            </a:ext>
          </a:extLst>
        </p:spPr>
      </p:pic>
      <p:sp>
        <p:nvSpPr>
          <p:cNvPr id="4" name="Subtitle 3">
            <a:extLst>
              <a:ext uri="{FF2B5EF4-FFF2-40B4-BE49-F238E27FC236}">
                <a16:creationId xmlns:a16="http://schemas.microsoft.com/office/drawing/2014/main" id="{768304E4-0CA6-79E0-36DC-5547A30B767E}"/>
              </a:ext>
            </a:extLst>
          </p:cNvPr>
          <p:cNvSpPr>
            <a:spLocks noGrp="1" noChangeArrowheads="1"/>
          </p:cNvSpPr>
          <p:nvPr>
            <p:ph type="subTitle" idx="1"/>
          </p:nvPr>
        </p:nvSpPr>
        <p:spPr bwMode="auto">
          <a:xfrm>
            <a:off x="885986" y="247713"/>
            <a:ext cx="3200363" cy="7345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l"/>
            <a:endParaRPr kumimoji="0" lang="en-US" altLang="en-US"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algn="l"/>
            <a:r>
              <a:rPr lang="en-US" sz="1400" b="1" dirty="0">
                <a:solidFill>
                  <a:schemeClr val="bg1"/>
                </a:solidFill>
                <a:latin typeface="Times New Roman" panose="02020603050405020304" pitchFamily="18" charset="0"/>
                <a:cs typeface="Times New Roman" panose="02020603050405020304" pitchFamily="18" charset="0"/>
              </a:rPr>
              <a:t>Conditions for Swapping</a:t>
            </a:r>
          </a:p>
          <a:p>
            <a:pPr algn="l"/>
            <a:r>
              <a:rPr lang="en-US" sz="1400" dirty="0">
                <a:solidFill>
                  <a:schemeClr val="bg1"/>
                </a:solidFill>
                <a:latin typeface="Times New Roman" panose="02020603050405020304" pitchFamily="18" charset="0"/>
                <a:cs typeface="Times New Roman" panose="02020603050405020304" pitchFamily="18" charset="0"/>
              </a:rPr>
              <a:t>Memory is full </a:t>
            </a:r>
          </a:p>
          <a:p>
            <a:pPr algn="l"/>
            <a:r>
              <a:rPr lang="en-US" sz="1400" dirty="0">
                <a:solidFill>
                  <a:schemeClr val="bg1"/>
                </a:solidFill>
                <a:latin typeface="Times New Roman" panose="02020603050405020304" pitchFamily="18" charset="0"/>
                <a:cs typeface="Times New Roman" panose="02020603050405020304" pitchFamily="18" charset="0"/>
              </a:rPr>
              <a:t>Too many processes (multiprogramming) </a:t>
            </a:r>
          </a:p>
          <a:p>
            <a:pPr algn="l"/>
            <a:r>
              <a:rPr lang="en-US" sz="1400" dirty="0">
                <a:solidFill>
                  <a:schemeClr val="bg1"/>
                </a:solidFill>
                <a:latin typeface="Times New Roman" panose="02020603050405020304" pitchFamily="18" charset="0"/>
                <a:cs typeface="Times New Roman" panose="02020603050405020304" pitchFamily="18" charset="0"/>
              </a:rPr>
              <a:t>Process waiting for I/O </a:t>
            </a:r>
          </a:p>
          <a:p>
            <a:pPr algn="l"/>
            <a:r>
              <a:rPr lang="en-US" sz="1400" dirty="0">
                <a:solidFill>
                  <a:schemeClr val="bg1"/>
                </a:solidFill>
                <a:latin typeface="Times New Roman" panose="02020603050405020304" pitchFamily="18" charset="0"/>
                <a:cs typeface="Times New Roman" panose="02020603050405020304" pitchFamily="18" charset="0"/>
              </a:rPr>
              <a:t>Low priority process removed </a:t>
            </a:r>
          </a:p>
          <a:p>
            <a:pPr algn="l"/>
            <a:r>
              <a:rPr lang="en-US" sz="1400" dirty="0">
                <a:solidFill>
                  <a:schemeClr val="bg1"/>
                </a:solidFill>
                <a:latin typeface="Times New Roman" panose="02020603050405020304" pitchFamily="18" charset="0"/>
                <a:cs typeface="Times New Roman" panose="02020603050405020304" pitchFamily="18" charset="0"/>
              </a:rPr>
              <a:t>Memory overloading</a:t>
            </a:r>
          </a:p>
          <a:p>
            <a:pPr algn="l"/>
            <a:br>
              <a:rPr lang="en-US" sz="1400" dirty="0">
                <a:solidFill>
                  <a:schemeClr val="bg1"/>
                </a:solidFill>
                <a:latin typeface="Times New Roman" panose="02020603050405020304" pitchFamily="18" charset="0"/>
                <a:cs typeface="Times New Roman" panose="02020603050405020304" pitchFamily="18" charset="0"/>
              </a:rPr>
            </a:br>
            <a:r>
              <a:rPr lang="en-US" sz="1400" b="1" dirty="0">
                <a:solidFill>
                  <a:schemeClr val="bg1"/>
                </a:solidFill>
                <a:latin typeface="Times New Roman" panose="02020603050405020304" pitchFamily="18" charset="0"/>
                <a:cs typeface="Times New Roman" panose="02020603050405020304" pitchFamily="18" charset="0"/>
              </a:rPr>
              <a:t>Impact on Performance</a:t>
            </a:r>
          </a:p>
          <a:p>
            <a:pPr algn="l"/>
            <a:r>
              <a:rPr lang="en-US" sz="1400" b="1" dirty="0">
                <a:solidFill>
                  <a:schemeClr val="bg1"/>
                </a:solidFill>
                <a:latin typeface="Times New Roman" panose="02020603050405020304" pitchFamily="18" charset="0"/>
                <a:cs typeface="Times New Roman" panose="02020603050405020304" pitchFamily="18" charset="0"/>
              </a:rPr>
              <a:t>Advantages:</a:t>
            </a:r>
            <a:endParaRPr lang="en-US" sz="1400" dirty="0">
              <a:solidFill>
                <a:schemeClr val="bg1"/>
              </a:solidFill>
              <a:latin typeface="Times New Roman" panose="02020603050405020304" pitchFamily="18" charset="0"/>
              <a:cs typeface="Times New Roman" panose="02020603050405020304" pitchFamily="18" charset="0"/>
            </a:endParaRPr>
          </a:p>
          <a:p>
            <a:pPr algn="l"/>
            <a:r>
              <a:rPr lang="en-US" sz="1400" dirty="0">
                <a:solidFill>
                  <a:schemeClr val="bg1"/>
                </a:solidFill>
                <a:latin typeface="Times New Roman" panose="02020603050405020304" pitchFamily="18" charset="0"/>
                <a:cs typeface="Times New Roman" panose="02020603050405020304" pitchFamily="18" charset="0"/>
              </a:rPr>
              <a:t>Better memory utilization </a:t>
            </a:r>
          </a:p>
          <a:p>
            <a:pPr algn="l"/>
            <a:r>
              <a:rPr lang="en-US" sz="1400" dirty="0">
                <a:solidFill>
                  <a:schemeClr val="bg1"/>
                </a:solidFill>
                <a:latin typeface="Times New Roman" panose="02020603050405020304" pitchFamily="18" charset="0"/>
                <a:cs typeface="Times New Roman" panose="02020603050405020304" pitchFamily="18" charset="0"/>
              </a:rPr>
              <a:t>Supports more processes </a:t>
            </a:r>
          </a:p>
          <a:p>
            <a:pPr algn="l"/>
            <a:r>
              <a:rPr lang="en-US" sz="1400" b="1" dirty="0">
                <a:solidFill>
                  <a:schemeClr val="bg1"/>
                </a:solidFill>
                <a:latin typeface="Times New Roman" panose="02020603050405020304" pitchFamily="18" charset="0"/>
                <a:cs typeface="Times New Roman" panose="02020603050405020304" pitchFamily="18" charset="0"/>
              </a:rPr>
              <a:t>Disadvantages:</a:t>
            </a:r>
            <a:endParaRPr lang="en-US" sz="1400" dirty="0">
              <a:solidFill>
                <a:schemeClr val="bg1"/>
              </a:solidFill>
              <a:latin typeface="Times New Roman" panose="02020603050405020304" pitchFamily="18" charset="0"/>
              <a:cs typeface="Times New Roman" panose="02020603050405020304" pitchFamily="18" charset="0"/>
            </a:endParaRPr>
          </a:p>
          <a:p>
            <a:pPr algn="l"/>
            <a:r>
              <a:rPr lang="en-US" sz="1400" dirty="0">
                <a:solidFill>
                  <a:schemeClr val="bg1"/>
                </a:solidFill>
                <a:latin typeface="Times New Roman" panose="02020603050405020304" pitchFamily="18" charset="0"/>
                <a:cs typeface="Times New Roman" panose="02020603050405020304" pitchFamily="18" charset="0"/>
              </a:rPr>
              <a:t>High </a:t>
            </a:r>
            <a:r>
              <a:rPr lang="en-US" sz="1400" b="1" dirty="0">
                <a:solidFill>
                  <a:schemeClr val="bg1"/>
                </a:solidFill>
                <a:latin typeface="Times New Roman" panose="02020603050405020304" pitchFamily="18" charset="0"/>
                <a:cs typeface="Times New Roman" panose="02020603050405020304" pitchFamily="18" charset="0"/>
              </a:rPr>
              <a:t>disk I/O</a:t>
            </a:r>
            <a:r>
              <a:rPr lang="en-US" sz="1400" dirty="0">
                <a:solidFill>
                  <a:schemeClr val="bg1"/>
                </a:solidFill>
                <a:latin typeface="Times New Roman" panose="02020603050405020304" pitchFamily="18" charset="0"/>
                <a:cs typeface="Times New Roman" panose="02020603050405020304" pitchFamily="18" charset="0"/>
              </a:rPr>
              <a:t> </a:t>
            </a:r>
          </a:p>
          <a:p>
            <a:pPr algn="l"/>
            <a:r>
              <a:rPr lang="en-US" sz="1400" dirty="0">
                <a:solidFill>
                  <a:schemeClr val="bg1"/>
                </a:solidFill>
                <a:latin typeface="Times New Roman" panose="02020603050405020304" pitchFamily="18" charset="0"/>
                <a:cs typeface="Times New Roman" panose="02020603050405020304" pitchFamily="18" charset="0"/>
              </a:rPr>
              <a:t>Slower execution </a:t>
            </a:r>
          </a:p>
          <a:p>
            <a:pPr algn="l"/>
            <a:r>
              <a:rPr lang="en-US" sz="1400" dirty="0">
                <a:solidFill>
                  <a:schemeClr val="bg1"/>
                </a:solidFill>
                <a:latin typeface="Times New Roman" panose="02020603050405020304" pitchFamily="18" charset="0"/>
                <a:cs typeface="Times New Roman" panose="02020603050405020304" pitchFamily="18" charset="0"/>
              </a:rPr>
              <a:t>May cause </a:t>
            </a:r>
            <a:r>
              <a:rPr lang="en-US" sz="1400" b="1" dirty="0">
                <a:solidFill>
                  <a:schemeClr val="bg1"/>
                </a:solidFill>
                <a:latin typeface="Times New Roman" panose="02020603050405020304" pitchFamily="18" charset="0"/>
                <a:cs typeface="Times New Roman" panose="02020603050405020304" pitchFamily="18" charset="0"/>
              </a:rPr>
              <a:t>thrashing</a:t>
            </a:r>
            <a:r>
              <a:rPr lang="en-US" sz="1400" dirty="0">
                <a:solidFill>
                  <a:schemeClr val="bg1"/>
                </a:solidFill>
                <a:latin typeface="Times New Roman" panose="02020603050405020304" pitchFamily="18" charset="0"/>
                <a:cs typeface="Times New Roman" panose="02020603050405020304" pitchFamily="18" charset="0"/>
              </a:rPr>
              <a:t> </a:t>
            </a:r>
          </a:p>
          <a:p>
            <a:pPr algn="l"/>
            <a:r>
              <a:rPr lang="en-US" sz="1400" dirty="0">
                <a:solidFill>
                  <a:schemeClr val="bg1"/>
                </a:solidFill>
                <a:latin typeface="Times New Roman" panose="02020603050405020304" pitchFamily="18" charset="0"/>
                <a:cs typeface="Times New Roman" panose="02020603050405020304" pitchFamily="18" charset="0"/>
              </a:rPr>
              <a:t>Reduced CPU efficiency</a:t>
            </a:r>
          </a:p>
          <a:p>
            <a:pPr algn="l"/>
            <a:endParaRPr lang="en-US" sz="1400" dirty="0">
              <a:solidFill>
                <a:schemeClr val="bg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9012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CBA74-068D-6E65-2611-E59E0B217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293528-5E7A-B71E-D865-6ED0EDC4933B}"/>
              </a:ext>
            </a:extLst>
          </p:cNvPr>
          <p:cNvSpPr>
            <a:spLocks noGrp="1"/>
          </p:cNvSpPr>
          <p:nvPr>
            <p:ph type="ctrTitle"/>
          </p:nvPr>
        </p:nvSpPr>
        <p:spPr>
          <a:xfrm>
            <a:off x="1600200" y="536895"/>
            <a:ext cx="8991600" cy="5595457"/>
          </a:xfrm>
        </p:spPr>
        <p:txBody>
          <a:bodyPr/>
          <a:lstStyle/>
          <a:p>
            <a:endParaRPr lang="en-IN" b="1" dirty="0"/>
          </a:p>
        </p:txBody>
      </p:sp>
      <p:sp>
        <p:nvSpPr>
          <p:cNvPr id="3" name="Subtitle 2">
            <a:extLst>
              <a:ext uri="{FF2B5EF4-FFF2-40B4-BE49-F238E27FC236}">
                <a16:creationId xmlns:a16="http://schemas.microsoft.com/office/drawing/2014/main" id="{4BF6698B-DA06-0100-4B6F-E5C43991D7DC}"/>
              </a:ext>
            </a:extLst>
          </p:cNvPr>
          <p:cNvSpPr>
            <a:spLocks noGrp="1"/>
          </p:cNvSpPr>
          <p:nvPr>
            <p:ph type="subTitle" idx="1"/>
          </p:nvPr>
        </p:nvSpPr>
        <p:spPr>
          <a:xfrm>
            <a:off x="1758493" y="972402"/>
            <a:ext cx="8991600" cy="4247780"/>
          </a:xfrm>
        </p:spPr>
        <p:txBody>
          <a:bodyPr>
            <a:normAutofit fontScale="85000" lnSpcReduction="20000"/>
          </a:bodyPr>
          <a:lstStyle/>
          <a:p>
            <a:pPr algn="l"/>
            <a:r>
              <a:rPr lang="en-US" b="1" dirty="0">
                <a:solidFill>
                  <a:schemeClr val="bg1"/>
                </a:solidFill>
              </a:rPr>
              <a:t>B)</a:t>
            </a:r>
          </a:p>
          <a:p>
            <a:pPr algn="l"/>
            <a:r>
              <a:rPr lang="en-US" b="1" dirty="0">
                <a:solidFill>
                  <a:schemeClr val="bg1"/>
                </a:solidFill>
              </a:rPr>
              <a:t>FIFO (First-In First-Out) Page Replacement</a:t>
            </a:r>
          </a:p>
          <a:p>
            <a:pPr algn="l"/>
            <a:r>
              <a:rPr lang="en-US" b="1" dirty="0">
                <a:solidFill>
                  <a:schemeClr val="bg1"/>
                </a:solidFill>
              </a:rPr>
              <a:t>📌 Definition</a:t>
            </a:r>
          </a:p>
          <a:p>
            <a:pPr algn="l"/>
            <a:r>
              <a:rPr lang="en-US" dirty="0">
                <a:solidFill>
                  <a:schemeClr val="bg1"/>
                </a:solidFill>
              </a:rPr>
              <a:t>FIFO (First-In First-Out) is a </a:t>
            </a:r>
            <a:r>
              <a:rPr lang="en-US" b="1" dirty="0">
                <a:solidFill>
                  <a:schemeClr val="bg1"/>
                </a:solidFill>
              </a:rPr>
              <a:t>page replacement algorithm</a:t>
            </a:r>
            <a:r>
              <a:rPr lang="en-US" dirty="0">
                <a:solidFill>
                  <a:schemeClr val="bg1"/>
                </a:solidFill>
              </a:rPr>
              <a:t> in operating systems where the </a:t>
            </a:r>
            <a:r>
              <a:rPr lang="en-US" b="1" dirty="0">
                <a:solidFill>
                  <a:schemeClr val="bg1"/>
                </a:solidFill>
              </a:rPr>
              <a:t>oldest page in memory is replaced first</a:t>
            </a:r>
            <a:r>
              <a:rPr lang="en-US" dirty="0">
                <a:solidFill>
                  <a:schemeClr val="bg1"/>
                </a:solidFill>
              </a:rPr>
              <a:t> when a new page needs to be loaded.</a:t>
            </a:r>
          </a:p>
          <a:p>
            <a:pPr algn="l"/>
            <a:br>
              <a:rPr lang="en-US" dirty="0">
                <a:solidFill>
                  <a:schemeClr val="bg1"/>
                </a:solidFill>
              </a:rPr>
            </a:br>
            <a:endParaRPr lang="en-US" dirty="0">
              <a:solidFill>
                <a:schemeClr val="bg1"/>
              </a:solidFill>
            </a:endParaRPr>
          </a:p>
          <a:p>
            <a:pPr algn="l"/>
            <a:r>
              <a:rPr lang="en-US" b="1" dirty="0">
                <a:solidFill>
                  <a:schemeClr val="bg1"/>
                </a:solidFill>
              </a:rPr>
              <a:t>⚙️ Working Principle</a:t>
            </a:r>
          </a:p>
          <a:p>
            <a:pPr algn="l"/>
            <a:r>
              <a:rPr lang="en-US" dirty="0">
                <a:solidFill>
                  <a:schemeClr val="bg1"/>
                </a:solidFill>
              </a:rPr>
              <a:t>Pages are stored in a </a:t>
            </a:r>
            <a:r>
              <a:rPr lang="en-US" b="1" dirty="0">
                <a:solidFill>
                  <a:schemeClr val="bg1"/>
                </a:solidFill>
              </a:rPr>
              <a:t>queue (line) structure</a:t>
            </a:r>
            <a:r>
              <a:rPr lang="en-US" dirty="0">
                <a:solidFill>
                  <a:schemeClr val="bg1"/>
                </a:solidFill>
              </a:rPr>
              <a:t> </a:t>
            </a:r>
          </a:p>
          <a:p>
            <a:pPr algn="l"/>
            <a:r>
              <a:rPr lang="en-US" dirty="0">
                <a:solidFill>
                  <a:schemeClr val="bg1"/>
                </a:solidFill>
              </a:rPr>
              <a:t>The page that enters first will leave first </a:t>
            </a:r>
          </a:p>
          <a:p>
            <a:pPr algn="l"/>
            <a:r>
              <a:rPr lang="en-US" dirty="0">
                <a:solidFill>
                  <a:schemeClr val="bg1"/>
                </a:solidFill>
              </a:rPr>
              <a:t>When a page fault occurs: </a:t>
            </a:r>
          </a:p>
          <a:p>
            <a:pPr lvl="1" algn="l"/>
            <a:r>
              <a:rPr lang="en-US" dirty="0">
                <a:solidFill>
                  <a:schemeClr val="bg1"/>
                </a:solidFill>
              </a:rPr>
              <a:t>Remove the </a:t>
            </a:r>
            <a:r>
              <a:rPr lang="en-US" b="1" dirty="0">
                <a:solidFill>
                  <a:schemeClr val="bg1"/>
                </a:solidFill>
              </a:rPr>
              <a:t>oldest page</a:t>
            </a:r>
            <a:r>
              <a:rPr lang="en-US" dirty="0">
                <a:solidFill>
                  <a:schemeClr val="bg1"/>
                </a:solidFill>
              </a:rPr>
              <a:t> </a:t>
            </a:r>
          </a:p>
          <a:p>
            <a:pPr lvl="1" algn="l"/>
            <a:r>
              <a:rPr lang="en-US" dirty="0">
                <a:solidFill>
                  <a:schemeClr val="bg1"/>
                </a:solidFill>
              </a:rPr>
              <a:t>Insert the new page into memory </a:t>
            </a:r>
          </a:p>
          <a:p>
            <a:pPr algn="l"/>
            <a:endParaRPr lang="en-IN" dirty="0">
              <a:solidFill>
                <a:schemeClr val="bg1"/>
              </a:solidFill>
            </a:endParaRPr>
          </a:p>
        </p:txBody>
      </p:sp>
    </p:spTree>
    <p:extLst>
      <p:ext uri="{BB962C8B-B14F-4D97-AF65-F5344CB8AC3E}">
        <p14:creationId xmlns:p14="http://schemas.microsoft.com/office/powerpoint/2010/main" val="3376969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F4FB1F-9605-AA9B-AD96-E3CC26292A1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3D9B6CF-87DD-47C7-B38D-7C5353D4D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FE2328B-DA12-4B90-BD82-3CCF13AF6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640080"/>
            <a:ext cx="6897625" cy="5263134"/>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77FF0B6-332F-4842-A5F8-EA360BD5F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0412" y="802767"/>
            <a:ext cx="6565392" cy="4937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5E777E2E-9648-66B0-50DC-FE968BB850D5}"/>
              </a:ext>
            </a:extLst>
          </p:cNvPr>
          <p:cNvGraphicFramePr>
            <a:graphicFrameLocks noGrp="1"/>
          </p:cNvGraphicFramePr>
          <p:nvPr>
            <p:extLst>
              <p:ext uri="{D42A27DB-BD31-4B8C-83A1-F6EECF244321}">
                <p14:modId xmlns:p14="http://schemas.microsoft.com/office/powerpoint/2010/main" val="876333348"/>
              </p:ext>
            </p:extLst>
          </p:nvPr>
        </p:nvGraphicFramePr>
        <p:xfrm>
          <a:off x="5690853" y="1122807"/>
          <a:ext cx="4824511" cy="4297681"/>
        </p:xfrm>
        <a:graphic>
          <a:graphicData uri="http://schemas.openxmlformats.org/drawingml/2006/table">
            <a:tbl>
              <a:tblPr firstRow="1" bandRow="1">
                <a:noFill/>
              </a:tblPr>
              <a:tblGrid>
                <a:gridCol w="1147444">
                  <a:extLst>
                    <a:ext uri="{9D8B030D-6E8A-4147-A177-3AD203B41FA5}">
                      <a16:colId xmlns:a16="http://schemas.microsoft.com/office/drawing/2014/main" val="4132176670"/>
                    </a:ext>
                  </a:extLst>
                </a:gridCol>
                <a:gridCol w="1147444">
                  <a:extLst>
                    <a:ext uri="{9D8B030D-6E8A-4147-A177-3AD203B41FA5}">
                      <a16:colId xmlns:a16="http://schemas.microsoft.com/office/drawing/2014/main" val="1635393016"/>
                    </a:ext>
                  </a:extLst>
                </a:gridCol>
                <a:gridCol w="1382179">
                  <a:extLst>
                    <a:ext uri="{9D8B030D-6E8A-4147-A177-3AD203B41FA5}">
                      <a16:colId xmlns:a16="http://schemas.microsoft.com/office/drawing/2014/main" val="3894364615"/>
                    </a:ext>
                  </a:extLst>
                </a:gridCol>
                <a:gridCol w="1147444">
                  <a:extLst>
                    <a:ext uri="{9D8B030D-6E8A-4147-A177-3AD203B41FA5}">
                      <a16:colId xmlns:a16="http://schemas.microsoft.com/office/drawing/2014/main" val="3728492866"/>
                    </a:ext>
                  </a:extLst>
                </a:gridCol>
              </a:tblGrid>
              <a:tr h="848759">
                <a:tc>
                  <a:txBody>
                    <a:bodyPr/>
                    <a:lstStyle/>
                    <a:p>
                      <a:pPr>
                        <a:buNone/>
                      </a:pPr>
                      <a:r>
                        <a:rPr lang="en-IN" sz="2000" b="1">
                          <a:solidFill>
                            <a:schemeClr val="tx1">
                              <a:lumMod val="75000"/>
                              <a:lumOff val="25000"/>
                            </a:schemeClr>
                          </a:solidFill>
                        </a:rPr>
                        <a:t>Step</a:t>
                      </a:r>
                    </a:p>
                  </a:txBody>
                  <a:tcPr marL="202085" marR="151564" marT="101043" marB="101043"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a:buNone/>
                      </a:pPr>
                      <a:r>
                        <a:rPr lang="en-IN" sz="2000" b="1">
                          <a:solidFill>
                            <a:schemeClr val="tx1">
                              <a:lumMod val="75000"/>
                              <a:lumOff val="25000"/>
                            </a:schemeClr>
                          </a:solidFill>
                        </a:rPr>
                        <a:t>Page</a:t>
                      </a:r>
                    </a:p>
                  </a:txBody>
                  <a:tcPr marL="202085" marR="151564" marT="101043" marB="101043"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a:buNone/>
                      </a:pPr>
                      <a:r>
                        <a:rPr lang="en-IN" sz="2000" b="1">
                          <a:solidFill>
                            <a:schemeClr val="tx1">
                              <a:lumMod val="75000"/>
                              <a:lumOff val="25000"/>
                            </a:schemeClr>
                          </a:solidFill>
                        </a:rPr>
                        <a:t>Frames (3)</a:t>
                      </a:r>
                    </a:p>
                  </a:txBody>
                  <a:tcPr marL="202085" marR="151564" marT="101043" marB="101043"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a:buNone/>
                      </a:pPr>
                      <a:r>
                        <a:rPr lang="en-IN" sz="2000" b="1">
                          <a:solidFill>
                            <a:schemeClr val="tx1">
                              <a:lumMod val="75000"/>
                              <a:lumOff val="25000"/>
                            </a:schemeClr>
                          </a:solidFill>
                        </a:rPr>
                        <a:t>Fault</a:t>
                      </a:r>
                    </a:p>
                  </a:txBody>
                  <a:tcPr marL="202085" marR="151564" marT="101043" marB="101043"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extLst>
                  <a:ext uri="{0D108BD9-81ED-4DB2-BD59-A6C34878D82A}">
                    <a16:rowId xmlns:a16="http://schemas.microsoft.com/office/drawing/2014/main" val="3501327694"/>
                  </a:ext>
                </a:extLst>
              </a:tr>
              <a:tr h="461428">
                <a:tc>
                  <a:txBody>
                    <a:bodyPr/>
                    <a:lstStyle/>
                    <a:p>
                      <a:pPr>
                        <a:buNone/>
                      </a:pPr>
                      <a:r>
                        <a:rPr lang="en-IN" sz="1400">
                          <a:solidFill>
                            <a:schemeClr val="tx1">
                              <a:lumMod val="75000"/>
                              <a:lumOff val="25000"/>
                            </a:schemeClr>
                          </a:solidFill>
                        </a:rPr>
                        <a:t>1</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X</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X - -</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Yes</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613613337"/>
                  </a:ext>
                </a:extLst>
              </a:tr>
              <a:tr h="461428">
                <a:tc>
                  <a:txBody>
                    <a:bodyPr/>
                    <a:lstStyle/>
                    <a:p>
                      <a:pPr>
                        <a:buNone/>
                      </a:pPr>
                      <a:r>
                        <a:rPr lang="en-IN" sz="1400">
                          <a:solidFill>
                            <a:schemeClr val="tx1">
                              <a:lumMod val="75000"/>
                              <a:lumOff val="25000"/>
                            </a:schemeClr>
                          </a:solidFill>
                        </a:rPr>
                        <a:t>2</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Y</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X Y -</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Yes</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191007361"/>
                  </a:ext>
                </a:extLst>
              </a:tr>
              <a:tr h="461428">
                <a:tc>
                  <a:txBody>
                    <a:bodyPr/>
                    <a:lstStyle/>
                    <a:p>
                      <a:pPr>
                        <a:buNone/>
                      </a:pPr>
                      <a:r>
                        <a:rPr lang="en-IN" sz="1400">
                          <a:solidFill>
                            <a:schemeClr val="tx1">
                              <a:lumMod val="75000"/>
                              <a:lumOff val="25000"/>
                            </a:schemeClr>
                          </a:solidFill>
                        </a:rPr>
                        <a:t>3</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Z</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X Y Z</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Yes</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442612729"/>
                  </a:ext>
                </a:extLst>
              </a:tr>
              <a:tr h="461428">
                <a:tc>
                  <a:txBody>
                    <a:bodyPr/>
                    <a:lstStyle/>
                    <a:p>
                      <a:pPr>
                        <a:buNone/>
                      </a:pPr>
                      <a:r>
                        <a:rPr lang="en-IN" sz="1400">
                          <a:solidFill>
                            <a:schemeClr val="tx1">
                              <a:lumMod val="75000"/>
                              <a:lumOff val="25000"/>
                            </a:schemeClr>
                          </a:solidFill>
                        </a:rPr>
                        <a:t>4</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X</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X Y Z</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No</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468478541"/>
                  </a:ext>
                </a:extLst>
              </a:tr>
              <a:tr h="680354">
                <a:tc>
                  <a:txBody>
                    <a:bodyPr/>
                    <a:lstStyle/>
                    <a:p>
                      <a:pPr>
                        <a:buNone/>
                      </a:pPr>
                      <a:r>
                        <a:rPr lang="en-IN" sz="1400">
                          <a:solidFill>
                            <a:schemeClr val="tx1">
                              <a:lumMod val="75000"/>
                              <a:lumOff val="25000"/>
                            </a:schemeClr>
                          </a:solidFill>
                        </a:rPr>
                        <a:t>5</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W</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pl-PL" sz="1400">
                          <a:solidFill>
                            <a:schemeClr val="tx1">
                              <a:lumMod val="75000"/>
                              <a:lumOff val="25000"/>
                            </a:schemeClr>
                          </a:solidFill>
                        </a:rPr>
                        <a:t>W Y Z (X out)</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Yes</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4086748748"/>
                  </a:ext>
                </a:extLst>
              </a:tr>
              <a:tr h="461428">
                <a:tc>
                  <a:txBody>
                    <a:bodyPr/>
                    <a:lstStyle/>
                    <a:p>
                      <a:pPr>
                        <a:buNone/>
                      </a:pPr>
                      <a:r>
                        <a:rPr lang="en-IN" sz="1400">
                          <a:solidFill>
                            <a:schemeClr val="tx1">
                              <a:lumMod val="75000"/>
                              <a:lumOff val="25000"/>
                            </a:schemeClr>
                          </a:solidFill>
                        </a:rPr>
                        <a:t>6</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Y</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W Y Z</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IN" sz="1400">
                          <a:solidFill>
                            <a:schemeClr val="tx1">
                              <a:lumMod val="75000"/>
                              <a:lumOff val="25000"/>
                            </a:schemeClr>
                          </a:solidFill>
                        </a:rPr>
                        <a:t>No</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839271123"/>
                  </a:ext>
                </a:extLst>
              </a:tr>
              <a:tr h="461428">
                <a:tc>
                  <a:txBody>
                    <a:bodyPr/>
                    <a:lstStyle/>
                    <a:p>
                      <a:pPr>
                        <a:buNone/>
                      </a:pPr>
                      <a:r>
                        <a:rPr lang="en-IN" sz="1400">
                          <a:solidFill>
                            <a:schemeClr val="tx1">
                              <a:lumMod val="75000"/>
                              <a:lumOff val="25000"/>
                            </a:schemeClr>
                          </a:solidFill>
                        </a:rPr>
                        <a:t>7</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12700" cmpd="sng">
                      <a:noFill/>
                      <a:prstDash val="solid"/>
                    </a:lnB>
                    <a:noFill/>
                  </a:tcPr>
                </a:tc>
                <a:tc>
                  <a:txBody>
                    <a:bodyPr/>
                    <a:lstStyle/>
                    <a:p>
                      <a:pPr>
                        <a:buNone/>
                      </a:pPr>
                      <a:r>
                        <a:rPr lang="en-IN" sz="1400">
                          <a:solidFill>
                            <a:schemeClr val="tx1">
                              <a:lumMod val="75000"/>
                              <a:lumOff val="25000"/>
                            </a:schemeClr>
                          </a:solidFill>
                        </a:rPr>
                        <a:t>Z</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12700" cmpd="sng">
                      <a:noFill/>
                      <a:prstDash val="solid"/>
                    </a:lnB>
                    <a:noFill/>
                  </a:tcPr>
                </a:tc>
                <a:tc>
                  <a:txBody>
                    <a:bodyPr/>
                    <a:lstStyle/>
                    <a:p>
                      <a:pPr>
                        <a:buNone/>
                      </a:pPr>
                      <a:r>
                        <a:rPr lang="en-IN" sz="1400">
                          <a:solidFill>
                            <a:schemeClr val="tx1">
                              <a:lumMod val="75000"/>
                              <a:lumOff val="25000"/>
                            </a:schemeClr>
                          </a:solidFill>
                        </a:rPr>
                        <a:t>W Y Z</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12700" cmpd="sng">
                      <a:noFill/>
                      <a:prstDash val="solid"/>
                    </a:lnB>
                    <a:noFill/>
                  </a:tcPr>
                </a:tc>
                <a:tc>
                  <a:txBody>
                    <a:bodyPr/>
                    <a:lstStyle/>
                    <a:p>
                      <a:pPr>
                        <a:buNone/>
                      </a:pPr>
                      <a:r>
                        <a:rPr lang="en-IN" sz="1400">
                          <a:solidFill>
                            <a:schemeClr val="tx1">
                              <a:lumMod val="75000"/>
                              <a:lumOff val="25000"/>
                            </a:schemeClr>
                          </a:solidFill>
                        </a:rPr>
                        <a:t>No</a:t>
                      </a:r>
                    </a:p>
                  </a:txBody>
                  <a:tcPr marL="202085" marR="151564" marT="101043" marB="101043" anchor="ctr">
                    <a:lnL w="12700" cmpd="sng">
                      <a:noFill/>
                      <a:prstDash val="solid"/>
                    </a:lnL>
                    <a:lnR w="12700" cmpd="sng">
                      <a:noFill/>
                      <a:prstDash val="solid"/>
                    </a:lnR>
                    <a:lnT w="9525" cap="flat" cmpd="sng" algn="ctr">
                      <a:solidFill>
                        <a:srgbClr val="C7C6C1"/>
                      </a:solidFill>
                      <a:prstDash val="solid"/>
                    </a:lnT>
                    <a:lnB w="12700" cmpd="sng">
                      <a:noFill/>
                      <a:prstDash val="solid"/>
                    </a:lnB>
                    <a:noFill/>
                  </a:tcPr>
                </a:tc>
                <a:extLst>
                  <a:ext uri="{0D108BD9-81ED-4DB2-BD59-A6C34878D82A}">
                    <a16:rowId xmlns:a16="http://schemas.microsoft.com/office/drawing/2014/main" val="3914445787"/>
                  </a:ext>
                </a:extLst>
              </a:tr>
            </a:tbl>
          </a:graphicData>
        </a:graphic>
      </p:graphicFrame>
      <p:pic>
        <p:nvPicPr>
          <p:cNvPr id="7" name="Picture 6">
            <a:extLst>
              <a:ext uri="{FF2B5EF4-FFF2-40B4-BE49-F238E27FC236}">
                <a16:creationId xmlns:a16="http://schemas.microsoft.com/office/drawing/2014/main" id="{2E036CDE-7E13-E94A-D897-FC65145D5DC3}"/>
              </a:ext>
            </a:extLst>
          </p:cNvPr>
          <p:cNvPicPr>
            <a:picLocks noChangeAspect="1"/>
          </p:cNvPicPr>
          <p:nvPr/>
        </p:nvPicPr>
        <p:blipFill>
          <a:blip r:embed="rId2"/>
          <a:stretch>
            <a:fillRect/>
          </a:stretch>
        </p:blipFill>
        <p:spPr>
          <a:xfrm>
            <a:off x="195856" y="1359017"/>
            <a:ext cx="4023220" cy="3112316"/>
          </a:xfrm>
          <a:prstGeom prst="rect">
            <a:avLst/>
          </a:prstGeom>
        </p:spPr>
      </p:pic>
    </p:spTree>
    <p:extLst>
      <p:ext uri="{BB962C8B-B14F-4D97-AF65-F5344CB8AC3E}">
        <p14:creationId xmlns:p14="http://schemas.microsoft.com/office/powerpoint/2010/main" val="1770065086"/>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24ABE-B35F-A3AA-5009-3979D5DE87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A9C4A-0FB1-6564-F3B7-9CD37014D518}"/>
              </a:ext>
            </a:extLst>
          </p:cNvPr>
          <p:cNvSpPr>
            <a:spLocks noGrp="1"/>
          </p:cNvSpPr>
          <p:nvPr>
            <p:ph type="ctrTitle"/>
          </p:nvPr>
        </p:nvSpPr>
        <p:spPr>
          <a:xfrm>
            <a:off x="1600200" y="536895"/>
            <a:ext cx="8991600" cy="5595457"/>
          </a:xfrm>
        </p:spPr>
        <p:txBody>
          <a:bodyPr/>
          <a:lstStyle/>
          <a:p>
            <a:endParaRPr lang="en-IN" b="1" dirty="0"/>
          </a:p>
        </p:txBody>
      </p:sp>
      <p:sp>
        <p:nvSpPr>
          <p:cNvPr id="3" name="Subtitle 2">
            <a:extLst>
              <a:ext uri="{FF2B5EF4-FFF2-40B4-BE49-F238E27FC236}">
                <a16:creationId xmlns:a16="http://schemas.microsoft.com/office/drawing/2014/main" id="{710837BB-A1CF-C282-F40D-93E31A7FA759}"/>
              </a:ext>
            </a:extLst>
          </p:cNvPr>
          <p:cNvSpPr>
            <a:spLocks noGrp="1"/>
          </p:cNvSpPr>
          <p:nvPr>
            <p:ph type="subTitle" idx="1"/>
          </p:nvPr>
        </p:nvSpPr>
        <p:spPr>
          <a:xfrm>
            <a:off x="1696904" y="536895"/>
            <a:ext cx="8991600" cy="3820160"/>
          </a:xfrm>
        </p:spPr>
        <p:txBody>
          <a:bodyPr>
            <a:noAutofit/>
          </a:bodyPr>
          <a:lstStyle/>
          <a:p>
            <a:pPr algn="l"/>
            <a:r>
              <a:rPr lang="en-US" sz="1200" b="1" dirty="0">
                <a:solidFill>
                  <a:schemeClr val="bg1"/>
                </a:solidFill>
              </a:rPr>
              <a:t>LRU (Least Recently Used) Page Replacement</a:t>
            </a:r>
          </a:p>
          <a:p>
            <a:pPr algn="l"/>
            <a:r>
              <a:rPr lang="en-US" sz="1200" b="1" dirty="0">
                <a:solidFill>
                  <a:schemeClr val="bg1"/>
                </a:solidFill>
              </a:rPr>
              <a:t>📌 Definition</a:t>
            </a:r>
          </a:p>
          <a:p>
            <a:pPr algn="l"/>
            <a:r>
              <a:rPr lang="en-US" sz="1200" dirty="0">
                <a:solidFill>
                  <a:schemeClr val="bg1"/>
                </a:solidFill>
              </a:rPr>
              <a:t>LRU (Least Recently Used) is a </a:t>
            </a:r>
            <a:r>
              <a:rPr lang="en-US" sz="1200" b="1" dirty="0">
                <a:solidFill>
                  <a:schemeClr val="bg1"/>
                </a:solidFill>
              </a:rPr>
              <a:t>page replacement algorithm</a:t>
            </a:r>
            <a:r>
              <a:rPr lang="en-US" sz="1200" dirty="0">
                <a:solidFill>
                  <a:schemeClr val="bg1"/>
                </a:solidFill>
              </a:rPr>
              <a:t> that replaces the page </a:t>
            </a:r>
            <a:r>
              <a:rPr lang="en-US" sz="1200" b="1" dirty="0">
                <a:solidFill>
                  <a:schemeClr val="bg1"/>
                </a:solidFill>
              </a:rPr>
              <a:t>which has not been used for the longest period of time</a:t>
            </a:r>
            <a:r>
              <a:rPr lang="en-US" sz="1200" dirty="0">
                <a:solidFill>
                  <a:schemeClr val="bg1"/>
                </a:solidFill>
              </a:rPr>
              <a:t> when a new page needs to be loaded.</a:t>
            </a:r>
          </a:p>
          <a:p>
            <a:pPr algn="l"/>
            <a:br>
              <a:rPr lang="en-US" sz="1200" dirty="0">
                <a:solidFill>
                  <a:schemeClr val="bg1"/>
                </a:solidFill>
              </a:rPr>
            </a:br>
            <a:endParaRPr lang="en-US" sz="1200" dirty="0">
              <a:solidFill>
                <a:schemeClr val="bg1"/>
              </a:solidFill>
            </a:endParaRPr>
          </a:p>
          <a:p>
            <a:pPr algn="l"/>
            <a:r>
              <a:rPr lang="en-US" sz="1200" b="1" dirty="0">
                <a:solidFill>
                  <a:schemeClr val="bg1"/>
                </a:solidFill>
              </a:rPr>
              <a:t>⚙️ Working Principle</a:t>
            </a:r>
          </a:p>
          <a:p>
            <a:pPr algn="l"/>
            <a:r>
              <a:rPr lang="en-US" sz="1200" dirty="0">
                <a:solidFill>
                  <a:schemeClr val="bg1"/>
                </a:solidFill>
              </a:rPr>
              <a:t>The OS keeps track of </a:t>
            </a:r>
            <a:r>
              <a:rPr lang="en-US" sz="1200" b="1" dirty="0">
                <a:solidFill>
                  <a:schemeClr val="bg1"/>
                </a:solidFill>
              </a:rPr>
              <a:t>recent page usage</a:t>
            </a:r>
            <a:r>
              <a:rPr lang="en-US" sz="1200" dirty="0">
                <a:solidFill>
                  <a:schemeClr val="bg1"/>
                </a:solidFill>
              </a:rPr>
              <a:t> </a:t>
            </a:r>
          </a:p>
          <a:p>
            <a:pPr algn="l"/>
            <a:r>
              <a:rPr lang="en-US" sz="1200" dirty="0">
                <a:solidFill>
                  <a:schemeClr val="bg1"/>
                </a:solidFill>
              </a:rPr>
              <a:t>When a page fault occurs: </a:t>
            </a:r>
          </a:p>
          <a:p>
            <a:pPr lvl="1" algn="l"/>
            <a:r>
              <a:rPr lang="en-US" sz="1200" dirty="0">
                <a:solidFill>
                  <a:schemeClr val="bg1"/>
                </a:solidFill>
              </a:rPr>
              <a:t>Find the page </a:t>
            </a:r>
            <a:r>
              <a:rPr lang="en-US" sz="1200" b="1" dirty="0">
                <a:solidFill>
                  <a:schemeClr val="bg1"/>
                </a:solidFill>
              </a:rPr>
              <a:t>least recently accessed</a:t>
            </a:r>
            <a:r>
              <a:rPr lang="en-US" sz="1200" dirty="0">
                <a:solidFill>
                  <a:schemeClr val="bg1"/>
                </a:solidFill>
              </a:rPr>
              <a:t> </a:t>
            </a:r>
          </a:p>
          <a:p>
            <a:pPr lvl="1" algn="l"/>
            <a:r>
              <a:rPr lang="en-US" sz="1200" dirty="0">
                <a:solidFill>
                  <a:schemeClr val="bg1"/>
                </a:solidFill>
              </a:rPr>
              <a:t>Replace it with the new page </a:t>
            </a:r>
          </a:p>
          <a:p>
            <a:pPr algn="l"/>
            <a:r>
              <a:rPr lang="en-US" sz="1200" dirty="0">
                <a:solidFill>
                  <a:schemeClr val="bg1"/>
                </a:solidFill>
              </a:rPr>
              <a:t>Based on </a:t>
            </a:r>
            <a:r>
              <a:rPr lang="en-US" sz="1200" b="1" dirty="0">
                <a:solidFill>
                  <a:schemeClr val="bg1"/>
                </a:solidFill>
              </a:rPr>
              <a:t>past usage history</a:t>
            </a:r>
            <a:endParaRPr lang="en-US" sz="1200" dirty="0">
              <a:solidFill>
                <a:schemeClr val="bg1"/>
              </a:solidFill>
            </a:endParaRPr>
          </a:p>
          <a:p>
            <a:pPr algn="l"/>
            <a:endParaRPr lang="en-US" sz="1200" dirty="0">
              <a:solidFill>
                <a:schemeClr val="bg1"/>
              </a:solidFill>
            </a:endParaRPr>
          </a:p>
          <a:p>
            <a:pPr algn="l"/>
            <a:endParaRPr lang="en-US" sz="1200" dirty="0">
              <a:solidFill>
                <a:schemeClr val="bg1"/>
              </a:solidFill>
            </a:endParaRPr>
          </a:p>
          <a:p>
            <a:pPr algn="l"/>
            <a:r>
              <a:rPr lang="en-US" sz="1200" dirty="0">
                <a:solidFill>
                  <a:schemeClr val="bg1"/>
                </a:solidFill>
              </a:rPr>
              <a:t>LRU = </a:t>
            </a:r>
            <a:r>
              <a:rPr lang="en-US" sz="1200" b="1" dirty="0">
                <a:solidFill>
                  <a:schemeClr val="bg1"/>
                </a:solidFill>
              </a:rPr>
              <a:t>Least Recently Used</a:t>
            </a:r>
            <a:r>
              <a:rPr lang="en-US" sz="1200" dirty="0">
                <a:solidFill>
                  <a:schemeClr val="bg1"/>
                </a:solidFill>
              </a:rPr>
              <a:t> </a:t>
            </a:r>
          </a:p>
          <a:p>
            <a:pPr algn="l"/>
            <a:r>
              <a:rPr lang="en-US" sz="1200" dirty="0">
                <a:solidFill>
                  <a:schemeClr val="bg1"/>
                </a:solidFill>
              </a:rPr>
              <a:t>Replaces the page </a:t>
            </a:r>
            <a:r>
              <a:rPr lang="en-US" sz="1200" b="1" dirty="0">
                <a:solidFill>
                  <a:schemeClr val="bg1"/>
                </a:solidFill>
              </a:rPr>
              <a:t>not used for longest time</a:t>
            </a:r>
            <a:r>
              <a:rPr lang="en-US" sz="1200" dirty="0">
                <a:solidFill>
                  <a:schemeClr val="bg1"/>
                </a:solidFill>
              </a:rPr>
              <a:t> </a:t>
            </a:r>
          </a:p>
          <a:p>
            <a:pPr algn="l"/>
            <a:r>
              <a:rPr lang="en-US" sz="1200" dirty="0">
                <a:solidFill>
                  <a:schemeClr val="bg1"/>
                </a:solidFill>
              </a:rPr>
              <a:t>Uses past usage history </a:t>
            </a:r>
          </a:p>
          <a:p>
            <a:pPr algn="l"/>
            <a:r>
              <a:rPr lang="en-US" sz="1200" dirty="0">
                <a:solidFill>
                  <a:schemeClr val="bg1"/>
                </a:solidFill>
              </a:rPr>
              <a:t>👉 More efficient than FIFO</a:t>
            </a:r>
          </a:p>
          <a:p>
            <a:pPr algn="l"/>
            <a:endParaRPr lang="en-IN" sz="1200" dirty="0">
              <a:solidFill>
                <a:schemeClr val="bg1"/>
              </a:solidFill>
            </a:endParaRPr>
          </a:p>
        </p:txBody>
      </p:sp>
    </p:spTree>
    <p:extLst>
      <p:ext uri="{BB962C8B-B14F-4D97-AF65-F5344CB8AC3E}">
        <p14:creationId xmlns:p14="http://schemas.microsoft.com/office/powerpoint/2010/main" val="589572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60E5E6-D0F9-7FA4-4027-698B60BA1203}"/>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23D9B6CF-87DD-47C7-B38D-7C5353D4D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FE2328B-DA12-4B90-BD82-3CCF13AF6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640080"/>
            <a:ext cx="6897625" cy="5263134"/>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F77FF0B6-332F-4842-A5F8-EA360BD5F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0412" y="802767"/>
            <a:ext cx="6565392" cy="4937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041519F8-7AD9-2B56-5F00-1090317FF8F6}"/>
              </a:ext>
            </a:extLst>
          </p:cNvPr>
          <p:cNvGraphicFramePr>
            <a:graphicFrameLocks noGrp="1"/>
          </p:cNvGraphicFramePr>
          <p:nvPr>
            <p:extLst>
              <p:ext uri="{D42A27DB-BD31-4B8C-83A1-F6EECF244321}">
                <p14:modId xmlns:p14="http://schemas.microsoft.com/office/powerpoint/2010/main" val="3011996389"/>
              </p:ext>
            </p:extLst>
          </p:nvPr>
        </p:nvGraphicFramePr>
        <p:xfrm>
          <a:off x="5140452" y="1216375"/>
          <a:ext cx="5925313" cy="4110544"/>
        </p:xfrm>
        <a:graphic>
          <a:graphicData uri="http://schemas.openxmlformats.org/drawingml/2006/table">
            <a:tbl>
              <a:tblPr firstRow="1" bandRow="1">
                <a:noFill/>
              </a:tblPr>
              <a:tblGrid>
                <a:gridCol w="1361038">
                  <a:extLst>
                    <a:ext uri="{9D8B030D-6E8A-4147-A177-3AD203B41FA5}">
                      <a16:colId xmlns:a16="http://schemas.microsoft.com/office/drawing/2014/main" val="1328467515"/>
                    </a:ext>
                  </a:extLst>
                </a:gridCol>
                <a:gridCol w="1382829">
                  <a:extLst>
                    <a:ext uri="{9D8B030D-6E8A-4147-A177-3AD203B41FA5}">
                      <a16:colId xmlns:a16="http://schemas.microsoft.com/office/drawing/2014/main" val="2828719332"/>
                    </a:ext>
                  </a:extLst>
                </a:gridCol>
                <a:gridCol w="1751868">
                  <a:extLst>
                    <a:ext uri="{9D8B030D-6E8A-4147-A177-3AD203B41FA5}">
                      <a16:colId xmlns:a16="http://schemas.microsoft.com/office/drawing/2014/main" val="1093039252"/>
                    </a:ext>
                  </a:extLst>
                </a:gridCol>
                <a:gridCol w="1429578">
                  <a:extLst>
                    <a:ext uri="{9D8B030D-6E8A-4147-A177-3AD203B41FA5}">
                      <a16:colId xmlns:a16="http://schemas.microsoft.com/office/drawing/2014/main" val="1981919042"/>
                    </a:ext>
                  </a:extLst>
                </a:gridCol>
              </a:tblGrid>
              <a:tr h="513818">
                <a:tc>
                  <a:txBody>
                    <a:bodyPr/>
                    <a:lstStyle/>
                    <a:p>
                      <a:pPr>
                        <a:buNone/>
                      </a:pPr>
                      <a:r>
                        <a:rPr lang="en-IN" sz="1500" b="1">
                          <a:solidFill>
                            <a:srgbClr val="FFFFFF"/>
                          </a:solidFill>
                        </a:rPr>
                        <a:t>Step</a:t>
                      </a:r>
                    </a:p>
                  </a:txBody>
                  <a:tcPr marL="207202" marR="124321" marT="124321" marB="124321"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buNone/>
                      </a:pPr>
                      <a:r>
                        <a:rPr lang="en-IN" sz="1500" b="1">
                          <a:solidFill>
                            <a:srgbClr val="FFFFFF"/>
                          </a:solidFill>
                        </a:rPr>
                        <a:t>Page</a:t>
                      </a:r>
                    </a:p>
                  </a:txBody>
                  <a:tcPr marL="207202" marR="124321" marT="124321" marB="124321"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buNone/>
                      </a:pPr>
                      <a:r>
                        <a:rPr lang="en-IN" sz="1500" b="1">
                          <a:solidFill>
                            <a:srgbClr val="FFFFFF"/>
                          </a:solidFill>
                        </a:rPr>
                        <a:t>Frames (3)</a:t>
                      </a:r>
                    </a:p>
                  </a:txBody>
                  <a:tcPr marL="207202" marR="124321" marT="124321" marB="124321"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buNone/>
                      </a:pPr>
                      <a:r>
                        <a:rPr lang="en-IN" sz="1500" b="1">
                          <a:solidFill>
                            <a:srgbClr val="FFFFFF"/>
                          </a:solidFill>
                        </a:rPr>
                        <a:t>Fault</a:t>
                      </a:r>
                    </a:p>
                  </a:txBody>
                  <a:tcPr marL="207202" marR="124321" marT="124321" marB="124321" anchor="ctr">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rgbClr val="636B68">
                        <a:alpha val="69804"/>
                      </a:srgbClr>
                    </a:solidFill>
                  </a:tcPr>
                </a:tc>
                <a:extLst>
                  <a:ext uri="{0D108BD9-81ED-4DB2-BD59-A6C34878D82A}">
                    <a16:rowId xmlns:a16="http://schemas.microsoft.com/office/drawing/2014/main" val="1057053785"/>
                  </a:ext>
                </a:extLst>
              </a:tr>
              <a:tr h="513818">
                <a:tc>
                  <a:txBody>
                    <a:bodyPr/>
                    <a:lstStyle/>
                    <a:p>
                      <a:pPr>
                        <a:buNone/>
                      </a:pPr>
                      <a:r>
                        <a:rPr lang="en-IN" sz="1500">
                          <a:solidFill>
                            <a:schemeClr val="tx1">
                              <a:lumMod val="85000"/>
                              <a:lumOff val="15000"/>
                            </a:schemeClr>
                          </a:solidFill>
                        </a:rPr>
                        <a:t>1</a:t>
                      </a:r>
                    </a:p>
                  </a:txBody>
                  <a:tcPr marL="207202" marR="124321" marT="124321" marB="124321"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IN" sz="1500">
                          <a:solidFill>
                            <a:schemeClr val="tx1">
                              <a:lumMod val="85000"/>
                              <a:lumOff val="15000"/>
                            </a:schemeClr>
                          </a:solidFill>
                        </a:rPr>
                        <a:t>X</a:t>
                      </a:r>
                    </a:p>
                  </a:txBody>
                  <a:tcPr marL="207202" marR="124321" marT="124321" marB="124321"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IN" sz="1500">
                          <a:solidFill>
                            <a:schemeClr val="tx1">
                              <a:lumMod val="85000"/>
                              <a:lumOff val="15000"/>
                            </a:schemeClr>
                          </a:solidFill>
                        </a:rPr>
                        <a:t>X - -</a:t>
                      </a:r>
                    </a:p>
                  </a:txBody>
                  <a:tcPr marL="207202" marR="124321" marT="124321" marB="124321"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IN" sz="1500">
                          <a:solidFill>
                            <a:schemeClr val="tx1">
                              <a:lumMod val="85000"/>
                              <a:lumOff val="15000"/>
                            </a:schemeClr>
                          </a:solidFill>
                        </a:rPr>
                        <a:t>Yes</a:t>
                      </a:r>
                    </a:p>
                  </a:txBody>
                  <a:tcPr marL="207202" marR="124321" marT="124321" marB="124321"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3611280033"/>
                  </a:ext>
                </a:extLst>
              </a:tr>
              <a:tr h="513818">
                <a:tc>
                  <a:txBody>
                    <a:bodyPr/>
                    <a:lstStyle/>
                    <a:p>
                      <a:pPr>
                        <a:buNone/>
                      </a:pPr>
                      <a:r>
                        <a:rPr lang="en-IN" sz="1500">
                          <a:solidFill>
                            <a:schemeClr val="tx1">
                              <a:lumMod val="85000"/>
                              <a:lumOff val="15000"/>
                            </a:schemeClr>
                          </a:solidFill>
                        </a:rPr>
                        <a:t>2</a:t>
                      </a:r>
                    </a:p>
                  </a:txBody>
                  <a:tcPr marL="207202" marR="124321" marT="124321" marB="124321"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500">
                          <a:solidFill>
                            <a:schemeClr val="tx1">
                              <a:lumMod val="85000"/>
                              <a:lumOff val="15000"/>
                            </a:schemeClr>
                          </a:solidFill>
                        </a:rPr>
                        <a:t>Y</a:t>
                      </a:r>
                    </a:p>
                  </a:txBody>
                  <a:tcPr marL="207202" marR="124321" marT="124321" marB="124321"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500">
                          <a:solidFill>
                            <a:schemeClr val="tx1">
                              <a:lumMod val="85000"/>
                              <a:lumOff val="15000"/>
                            </a:schemeClr>
                          </a:solidFill>
                        </a:rPr>
                        <a:t>X Y -</a:t>
                      </a:r>
                    </a:p>
                  </a:txBody>
                  <a:tcPr marL="207202" marR="124321" marT="124321" marB="124321"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500">
                          <a:solidFill>
                            <a:schemeClr val="tx1">
                              <a:lumMod val="85000"/>
                              <a:lumOff val="15000"/>
                            </a:schemeClr>
                          </a:solidFill>
                        </a:rPr>
                        <a:t>Yes</a:t>
                      </a:r>
                    </a:p>
                  </a:txBody>
                  <a:tcPr marL="207202" marR="124321" marT="124321" marB="124321"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554166880"/>
                  </a:ext>
                </a:extLst>
              </a:tr>
              <a:tr h="513818">
                <a:tc>
                  <a:txBody>
                    <a:bodyPr/>
                    <a:lstStyle/>
                    <a:p>
                      <a:pPr>
                        <a:buNone/>
                      </a:pPr>
                      <a:r>
                        <a:rPr lang="en-IN" sz="1500">
                          <a:solidFill>
                            <a:schemeClr val="tx1">
                              <a:lumMod val="85000"/>
                              <a:lumOff val="15000"/>
                            </a:schemeClr>
                          </a:solidFill>
                        </a:rPr>
                        <a:t>3</a:t>
                      </a:r>
                    </a:p>
                  </a:txBody>
                  <a:tcPr marL="207202" marR="124321" marT="124321" marB="124321"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IN" sz="1500">
                          <a:solidFill>
                            <a:schemeClr val="tx1">
                              <a:lumMod val="85000"/>
                              <a:lumOff val="15000"/>
                            </a:schemeClr>
                          </a:solidFill>
                        </a:rPr>
                        <a:t>Z</a:t>
                      </a:r>
                    </a:p>
                  </a:txBody>
                  <a:tcPr marL="207202" marR="124321" marT="124321" marB="124321"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IN" sz="1500">
                          <a:solidFill>
                            <a:schemeClr val="tx1">
                              <a:lumMod val="85000"/>
                              <a:lumOff val="15000"/>
                            </a:schemeClr>
                          </a:solidFill>
                        </a:rPr>
                        <a:t>X Y Z</a:t>
                      </a:r>
                    </a:p>
                  </a:txBody>
                  <a:tcPr marL="207202" marR="124321" marT="124321" marB="124321"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IN" sz="1500">
                          <a:solidFill>
                            <a:schemeClr val="tx1">
                              <a:lumMod val="85000"/>
                              <a:lumOff val="15000"/>
                            </a:schemeClr>
                          </a:solidFill>
                        </a:rPr>
                        <a:t>Yes</a:t>
                      </a:r>
                    </a:p>
                  </a:txBody>
                  <a:tcPr marL="207202" marR="124321" marT="124321" marB="124321"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2402290629"/>
                  </a:ext>
                </a:extLst>
              </a:tr>
              <a:tr h="513818">
                <a:tc>
                  <a:txBody>
                    <a:bodyPr/>
                    <a:lstStyle/>
                    <a:p>
                      <a:pPr>
                        <a:buNone/>
                      </a:pPr>
                      <a:r>
                        <a:rPr lang="en-IN" sz="1500">
                          <a:solidFill>
                            <a:schemeClr val="tx1">
                              <a:lumMod val="85000"/>
                              <a:lumOff val="15000"/>
                            </a:schemeClr>
                          </a:solidFill>
                        </a:rPr>
                        <a:t>4</a:t>
                      </a:r>
                      <a:endParaRPr lang="en-IN" sz="1500" dirty="0">
                        <a:solidFill>
                          <a:schemeClr val="tx1">
                            <a:lumMod val="85000"/>
                            <a:lumOff val="15000"/>
                          </a:schemeClr>
                        </a:solidFill>
                      </a:endParaRPr>
                    </a:p>
                  </a:txBody>
                  <a:tcPr marL="207202" marR="124321" marT="124321" marB="124321"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500">
                          <a:solidFill>
                            <a:schemeClr val="tx1">
                              <a:lumMod val="85000"/>
                              <a:lumOff val="15000"/>
                            </a:schemeClr>
                          </a:solidFill>
                        </a:rPr>
                        <a:t>X</a:t>
                      </a:r>
                    </a:p>
                  </a:txBody>
                  <a:tcPr marL="207202" marR="124321" marT="124321" marB="124321"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500">
                          <a:solidFill>
                            <a:schemeClr val="tx1">
                              <a:lumMod val="85000"/>
                              <a:lumOff val="15000"/>
                            </a:schemeClr>
                          </a:solidFill>
                        </a:rPr>
                        <a:t>X Y Z</a:t>
                      </a:r>
                    </a:p>
                  </a:txBody>
                  <a:tcPr marL="207202" marR="124321" marT="124321" marB="124321"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500">
                          <a:solidFill>
                            <a:schemeClr val="tx1">
                              <a:lumMod val="85000"/>
                              <a:lumOff val="15000"/>
                            </a:schemeClr>
                          </a:solidFill>
                        </a:rPr>
                        <a:t>No</a:t>
                      </a:r>
                    </a:p>
                  </a:txBody>
                  <a:tcPr marL="207202" marR="124321" marT="124321" marB="124321"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401039078"/>
                  </a:ext>
                </a:extLst>
              </a:tr>
              <a:tr h="513818">
                <a:tc>
                  <a:txBody>
                    <a:bodyPr/>
                    <a:lstStyle/>
                    <a:p>
                      <a:pPr>
                        <a:buNone/>
                      </a:pPr>
                      <a:r>
                        <a:rPr lang="en-IN" sz="1500">
                          <a:solidFill>
                            <a:schemeClr val="tx1">
                              <a:lumMod val="85000"/>
                              <a:lumOff val="15000"/>
                            </a:schemeClr>
                          </a:solidFill>
                        </a:rPr>
                        <a:t>5</a:t>
                      </a:r>
                    </a:p>
                  </a:txBody>
                  <a:tcPr marL="207202" marR="124321" marT="124321" marB="124321"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IN" sz="1500">
                          <a:solidFill>
                            <a:schemeClr val="tx1">
                              <a:lumMod val="85000"/>
                              <a:lumOff val="15000"/>
                            </a:schemeClr>
                          </a:solidFill>
                        </a:rPr>
                        <a:t>W</a:t>
                      </a:r>
                    </a:p>
                  </a:txBody>
                  <a:tcPr marL="207202" marR="124321" marT="124321" marB="124321"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pl-PL" sz="1500">
                          <a:solidFill>
                            <a:schemeClr val="tx1">
                              <a:lumMod val="85000"/>
                              <a:lumOff val="15000"/>
                            </a:schemeClr>
                          </a:solidFill>
                        </a:rPr>
                        <a:t>X W Z (Y out)</a:t>
                      </a:r>
                    </a:p>
                  </a:txBody>
                  <a:tcPr marL="207202" marR="124321" marT="124321" marB="124321"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IN" sz="1500">
                          <a:solidFill>
                            <a:schemeClr val="tx1">
                              <a:lumMod val="85000"/>
                              <a:lumOff val="15000"/>
                            </a:schemeClr>
                          </a:solidFill>
                        </a:rPr>
                        <a:t>Yes</a:t>
                      </a:r>
                    </a:p>
                  </a:txBody>
                  <a:tcPr marL="207202" marR="124321" marT="124321" marB="124321"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4196041381"/>
                  </a:ext>
                </a:extLst>
              </a:tr>
              <a:tr h="513818">
                <a:tc>
                  <a:txBody>
                    <a:bodyPr/>
                    <a:lstStyle/>
                    <a:p>
                      <a:pPr>
                        <a:buNone/>
                      </a:pPr>
                      <a:r>
                        <a:rPr lang="en-IN" sz="1500">
                          <a:solidFill>
                            <a:schemeClr val="tx1">
                              <a:lumMod val="85000"/>
                              <a:lumOff val="15000"/>
                            </a:schemeClr>
                          </a:solidFill>
                        </a:rPr>
                        <a:t>6</a:t>
                      </a:r>
                    </a:p>
                  </a:txBody>
                  <a:tcPr marL="207202" marR="124321" marT="124321" marB="124321"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500">
                          <a:solidFill>
                            <a:schemeClr val="tx1">
                              <a:lumMod val="85000"/>
                              <a:lumOff val="15000"/>
                            </a:schemeClr>
                          </a:solidFill>
                        </a:rPr>
                        <a:t>Y</a:t>
                      </a:r>
                    </a:p>
                  </a:txBody>
                  <a:tcPr marL="207202" marR="124321" marT="124321" marB="124321"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pl-PL" sz="1500">
                          <a:solidFill>
                            <a:schemeClr val="tx1">
                              <a:lumMod val="85000"/>
                              <a:lumOff val="15000"/>
                            </a:schemeClr>
                          </a:solidFill>
                        </a:rPr>
                        <a:t>X W Y (Z out)</a:t>
                      </a:r>
                    </a:p>
                  </a:txBody>
                  <a:tcPr marL="207202" marR="124321" marT="124321" marB="124321"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IN" sz="1500">
                          <a:solidFill>
                            <a:schemeClr val="tx1">
                              <a:lumMod val="85000"/>
                              <a:lumOff val="15000"/>
                            </a:schemeClr>
                          </a:solidFill>
                        </a:rPr>
                        <a:t>Yes</a:t>
                      </a:r>
                    </a:p>
                  </a:txBody>
                  <a:tcPr marL="207202" marR="124321" marT="124321" marB="124321"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4085292942"/>
                  </a:ext>
                </a:extLst>
              </a:tr>
              <a:tr h="513818">
                <a:tc>
                  <a:txBody>
                    <a:bodyPr/>
                    <a:lstStyle/>
                    <a:p>
                      <a:pPr>
                        <a:buNone/>
                      </a:pPr>
                      <a:r>
                        <a:rPr lang="en-IN" sz="1500">
                          <a:solidFill>
                            <a:schemeClr val="tx1">
                              <a:lumMod val="85000"/>
                              <a:lumOff val="15000"/>
                            </a:schemeClr>
                          </a:solidFill>
                        </a:rPr>
                        <a:t>7</a:t>
                      </a:r>
                    </a:p>
                  </a:txBody>
                  <a:tcPr marL="207202" marR="124321" marT="124321" marB="124321"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a:buNone/>
                      </a:pPr>
                      <a:r>
                        <a:rPr lang="en-IN" sz="1500">
                          <a:solidFill>
                            <a:schemeClr val="tx1">
                              <a:lumMod val="85000"/>
                              <a:lumOff val="15000"/>
                            </a:schemeClr>
                          </a:solidFill>
                        </a:rPr>
                        <a:t>Z</a:t>
                      </a:r>
                    </a:p>
                  </a:txBody>
                  <a:tcPr marL="207202" marR="124321" marT="124321" marB="124321"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a:buNone/>
                      </a:pPr>
                      <a:r>
                        <a:rPr lang="pl-PL" sz="1500">
                          <a:solidFill>
                            <a:schemeClr val="tx1">
                              <a:lumMod val="85000"/>
                              <a:lumOff val="15000"/>
                            </a:schemeClr>
                          </a:solidFill>
                        </a:rPr>
                        <a:t>Z W Y (X out)</a:t>
                      </a:r>
                    </a:p>
                  </a:txBody>
                  <a:tcPr marL="207202" marR="124321" marT="124321" marB="124321"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a:buNone/>
                      </a:pPr>
                      <a:r>
                        <a:rPr lang="en-IN" sz="1500" dirty="0">
                          <a:solidFill>
                            <a:schemeClr val="tx1">
                              <a:lumMod val="85000"/>
                              <a:lumOff val="15000"/>
                            </a:schemeClr>
                          </a:solidFill>
                        </a:rPr>
                        <a:t>Yes</a:t>
                      </a:r>
                    </a:p>
                  </a:txBody>
                  <a:tcPr marL="207202" marR="124321" marT="124321" marB="124321"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12700" cmpd="sng">
                      <a:noFill/>
                      <a:prstDash val="solid"/>
                    </a:lnB>
                    <a:solidFill>
                      <a:srgbClr val="878E8B">
                        <a:alpha val="14902"/>
                      </a:srgbClr>
                    </a:solidFill>
                  </a:tcPr>
                </a:tc>
                <a:extLst>
                  <a:ext uri="{0D108BD9-81ED-4DB2-BD59-A6C34878D82A}">
                    <a16:rowId xmlns:a16="http://schemas.microsoft.com/office/drawing/2014/main" val="2677183002"/>
                  </a:ext>
                </a:extLst>
              </a:tr>
            </a:tbl>
          </a:graphicData>
        </a:graphic>
      </p:graphicFrame>
      <p:pic>
        <p:nvPicPr>
          <p:cNvPr id="7" name="Picture 6">
            <a:extLst>
              <a:ext uri="{FF2B5EF4-FFF2-40B4-BE49-F238E27FC236}">
                <a16:creationId xmlns:a16="http://schemas.microsoft.com/office/drawing/2014/main" id="{46117B01-E02B-0DCF-3AFA-4F3CD2ED7B43}"/>
              </a:ext>
            </a:extLst>
          </p:cNvPr>
          <p:cNvPicPr>
            <a:picLocks noChangeAspect="1"/>
          </p:cNvPicPr>
          <p:nvPr/>
        </p:nvPicPr>
        <p:blipFill>
          <a:blip r:embed="rId2"/>
          <a:stretch>
            <a:fillRect/>
          </a:stretch>
        </p:blipFill>
        <p:spPr>
          <a:xfrm>
            <a:off x="323750" y="1029905"/>
            <a:ext cx="4010507" cy="3947209"/>
          </a:xfrm>
          <a:prstGeom prst="rect">
            <a:avLst/>
          </a:prstGeom>
        </p:spPr>
      </p:pic>
    </p:spTree>
    <p:extLst>
      <p:ext uri="{BB962C8B-B14F-4D97-AF65-F5344CB8AC3E}">
        <p14:creationId xmlns:p14="http://schemas.microsoft.com/office/powerpoint/2010/main" val="1587589528"/>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09941FB616B1F4FA3223990E3670F64" ma:contentTypeVersion="4" ma:contentTypeDescription="Create a new document." ma:contentTypeScope="" ma:versionID="3979730ca085a027e42a51209e7c6645">
  <xsd:schema xmlns:xsd="http://www.w3.org/2001/XMLSchema" xmlns:xs="http://www.w3.org/2001/XMLSchema" xmlns:p="http://schemas.microsoft.com/office/2006/metadata/properties" xmlns:ns3="e28c7d46-09de-4887-99a4-a13963e1dee4" targetNamespace="http://schemas.microsoft.com/office/2006/metadata/properties" ma:root="true" ma:fieldsID="a4605d896130ccf20f53a0912e30908e" ns3:_="">
    <xsd:import namespace="e28c7d46-09de-4887-99a4-a13963e1dee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8c7d46-09de-4887-99a4-a13963e1dee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3C918C6-6F73-46E8-8E41-F54CC2B225D8}">
  <ds:schemaRefs>
    <ds:schemaRef ds:uri="http://purl.org/dc/terms/"/>
    <ds:schemaRef ds:uri="http://purl.org/dc/dcmitype/"/>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e28c7d46-09de-4887-99a4-a13963e1dee4"/>
    <ds:schemaRef ds:uri="http://www.w3.org/XML/1998/namespace"/>
  </ds:schemaRefs>
</ds:datastoreItem>
</file>

<file path=customXml/itemProps2.xml><?xml version="1.0" encoding="utf-8"?>
<ds:datastoreItem xmlns:ds="http://schemas.openxmlformats.org/officeDocument/2006/customXml" ds:itemID="{E31BD812-60D2-4C0E-A995-DC5162DB703C}">
  <ds:schemaRefs>
    <ds:schemaRef ds:uri="http://schemas.microsoft.com/sharepoint/v3/contenttype/forms"/>
  </ds:schemaRefs>
</ds:datastoreItem>
</file>

<file path=customXml/itemProps3.xml><?xml version="1.0" encoding="utf-8"?>
<ds:datastoreItem xmlns:ds="http://schemas.openxmlformats.org/officeDocument/2006/customXml" ds:itemID="{C92D33FC-F994-4948-A501-C967E9D77F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8c7d46-09de-4887-99a4-a13963e1de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Parcel</Template>
  <TotalTime>255</TotalTime>
  <Words>590</Words>
  <Application>Microsoft Office PowerPoint</Application>
  <PresentationFormat>Widescreen</PresentationFormat>
  <Paragraphs>149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Gill Sans MT</vt:lpstr>
      <vt:lpstr>Times New Roman</vt:lpstr>
      <vt:lpstr>Parcel</vt:lpstr>
      <vt:lpstr>Swapping and Page Replacement in OS-using FIFO and LRU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PAMIDI GAYATHRI</dc:creator>
  <cp:lastModifiedBy>PAMIDI GAYATHRI</cp:lastModifiedBy>
  <cp:revision>2</cp:revision>
  <dcterms:created xsi:type="dcterms:W3CDTF">2026-04-21T02:00:20Z</dcterms:created>
  <dcterms:modified xsi:type="dcterms:W3CDTF">2026-04-24T04:01:50Z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0x010100E09941FB616B1F4FA3223990E3670F64</vt:lpwstr>
  </property>
</Properties>
</file>